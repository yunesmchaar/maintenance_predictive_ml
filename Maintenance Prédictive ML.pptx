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image" Target="../media/image-5-32.png"/><Relationship Id="rId33" Type="http://schemas.openxmlformats.org/officeDocument/2006/relationships/image" Target="../media/image-5-33.png"/><Relationship Id="rId34" Type="http://schemas.openxmlformats.org/officeDocument/2006/relationships/image" Target="../media/image-5-34.png"/><Relationship Id="rId35" Type="http://schemas.openxmlformats.org/officeDocument/2006/relationships/image" Target="../media/image-5-35.png"/><Relationship Id="rId36" Type="http://schemas.openxmlformats.org/officeDocument/2006/relationships/image" Target="../media/image-5-36.png"/><Relationship Id="rId37" Type="http://schemas.openxmlformats.org/officeDocument/2006/relationships/image" Target="../media/image-5-37.png"/><Relationship Id="rId38" Type="http://schemas.openxmlformats.org/officeDocument/2006/relationships/image" Target="../media/image-5-38.png"/><Relationship Id="rId39" Type="http://schemas.openxmlformats.org/officeDocument/2006/relationships/image" Target="../media/image-5-39.png"/><Relationship Id="rId40" Type="http://schemas.openxmlformats.org/officeDocument/2006/relationships/image" Target="../media/image-5-40.png"/><Relationship Id="rId41" Type="http://schemas.openxmlformats.org/officeDocument/2006/relationships/image" Target="../media/image-5-41.png"/><Relationship Id="rId42" Type="http://schemas.openxmlformats.org/officeDocument/2006/relationships/image" Target="../media/image-5-42.png"/><Relationship Id="rId43" Type="http://schemas.openxmlformats.org/officeDocument/2006/relationships/image" Target="../media/image-5-43.png"/><Relationship Id="rId44" Type="http://schemas.openxmlformats.org/officeDocument/2006/relationships/image" Target="../media/image-5-44.png"/><Relationship Id="rId45" Type="http://schemas.openxmlformats.org/officeDocument/2006/relationships/image" Target="../media/image-5-45.png"/><Relationship Id="rId46" Type="http://schemas.openxmlformats.org/officeDocument/2006/relationships/image" Target="../media/image-5-46.png"/><Relationship Id="rId47" Type="http://schemas.openxmlformats.org/officeDocument/2006/relationships/image" Target="../media/image-5-47.png"/><Relationship Id="rId48" Type="http://schemas.openxmlformats.org/officeDocument/2006/relationships/image" Target="../media/image-5-48.png"/><Relationship Id="rId49" Type="http://schemas.openxmlformats.org/officeDocument/2006/relationships/image" Target="../media/image-5-49.png"/><Relationship Id="rId50" Type="http://schemas.openxmlformats.org/officeDocument/2006/relationships/image" Target="../media/image-5-50.png"/><Relationship Id="rId51" Type="http://schemas.openxmlformats.org/officeDocument/2006/relationships/image" Target="../media/image-5-51.png"/><Relationship Id="rId52" Type="http://schemas.openxmlformats.org/officeDocument/2006/relationships/image" Target="../media/image-5-52.png"/><Relationship Id="rId53" Type="http://schemas.openxmlformats.org/officeDocument/2006/relationships/image" Target="../media/image-5-53.png"/><Relationship Id="rId54" Type="http://schemas.openxmlformats.org/officeDocument/2006/relationships/image" Target="../media/image-5-54.png"/><Relationship Id="rId55" Type="http://schemas.openxmlformats.org/officeDocument/2006/relationships/image" Target="../media/image-5-55.png"/><Relationship Id="rId56" Type="http://schemas.openxmlformats.org/officeDocument/2006/relationships/image" Target="../media/image-5-56.png"/><Relationship Id="rId57" Type="http://schemas.openxmlformats.org/officeDocument/2006/relationships/image" Target="../media/image-5-57.png"/><Relationship Id="rId58" Type="http://schemas.openxmlformats.org/officeDocument/2006/relationships/image" Target="../media/image-5-58.png"/><Relationship Id="rId59" Type="http://schemas.openxmlformats.org/officeDocument/2006/relationships/image" Target="../media/image-5-59.png"/><Relationship Id="rId60" Type="http://schemas.openxmlformats.org/officeDocument/2006/relationships/image" Target="../media/image-5-60.png"/><Relationship Id="rId61" Type="http://schemas.openxmlformats.org/officeDocument/2006/relationships/image" Target="../media/image-5-61.png"/><Relationship Id="rId62" Type="http://schemas.openxmlformats.org/officeDocument/2006/relationships/image" Target="../media/image-5-62.png"/><Relationship Id="rId63" Type="http://schemas.openxmlformats.org/officeDocument/2006/relationships/slideLayout" Target="../slideLayouts/slideLayout1.xml"/><Relationship Id="rId6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png"/><Relationship Id="rId30" Type="http://schemas.openxmlformats.org/officeDocument/2006/relationships/image" Target="../media/image-6-30.png"/><Relationship Id="rId31" Type="http://schemas.openxmlformats.org/officeDocument/2006/relationships/image" Target="../media/image-6-31.png"/><Relationship Id="rId32" Type="http://schemas.openxmlformats.org/officeDocument/2006/relationships/image" Target="../media/image-6-32.png"/><Relationship Id="rId33" Type="http://schemas.openxmlformats.org/officeDocument/2006/relationships/image" Target="../media/image-6-33.png"/><Relationship Id="rId34" Type="http://schemas.openxmlformats.org/officeDocument/2006/relationships/image" Target="../media/image-6-34.png"/><Relationship Id="rId35" Type="http://schemas.openxmlformats.org/officeDocument/2006/relationships/image" Target="../media/image-6-35.png"/><Relationship Id="rId36" Type="http://schemas.openxmlformats.org/officeDocument/2006/relationships/image" Target="../media/image-6-36.png"/><Relationship Id="rId37" Type="http://schemas.openxmlformats.org/officeDocument/2006/relationships/image" Target="../media/image-6-37.png"/><Relationship Id="rId38" Type="http://schemas.openxmlformats.org/officeDocument/2006/relationships/image" Target="../media/image-6-38.png"/><Relationship Id="rId39" Type="http://schemas.openxmlformats.org/officeDocument/2006/relationships/image" Target="../media/image-6-39.png"/><Relationship Id="rId40" Type="http://schemas.openxmlformats.org/officeDocument/2006/relationships/image" Target="../media/image-6-40.png"/><Relationship Id="rId41" Type="http://schemas.openxmlformats.org/officeDocument/2006/relationships/image" Target="../media/image-6-41.png"/><Relationship Id="rId42" Type="http://schemas.openxmlformats.org/officeDocument/2006/relationships/image" Target="../media/image-6-42.png"/><Relationship Id="rId43" Type="http://schemas.openxmlformats.org/officeDocument/2006/relationships/image" Target="../media/image-6-43.png"/><Relationship Id="rId44" Type="http://schemas.openxmlformats.org/officeDocument/2006/relationships/image" Target="../media/image-6-44.png"/><Relationship Id="rId45" Type="http://schemas.openxmlformats.org/officeDocument/2006/relationships/image" Target="../media/image-6-45.png"/><Relationship Id="rId46" Type="http://schemas.openxmlformats.org/officeDocument/2006/relationships/image" Target="../media/image-6-46.png"/><Relationship Id="rId47" Type="http://schemas.openxmlformats.org/officeDocument/2006/relationships/image" Target="../media/image-6-47.png"/><Relationship Id="rId48" Type="http://schemas.openxmlformats.org/officeDocument/2006/relationships/image" Target="../media/image-6-48.png"/><Relationship Id="rId49" Type="http://schemas.openxmlformats.org/officeDocument/2006/relationships/image" Target="../media/image-6-49.png"/><Relationship Id="rId50" Type="http://schemas.openxmlformats.org/officeDocument/2006/relationships/image" Target="../media/image-6-50.png"/><Relationship Id="rId51" Type="http://schemas.openxmlformats.org/officeDocument/2006/relationships/image" Target="../media/image-6-51.png"/><Relationship Id="rId52" Type="http://schemas.openxmlformats.org/officeDocument/2006/relationships/image" Target="../media/image-6-52.png"/><Relationship Id="rId53" Type="http://schemas.openxmlformats.org/officeDocument/2006/relationships/image" Target="../media/image-6-53.png"/><Relationship Id="rId54" Type="http://schemas.openxmlformats.org/officeDocument/2006/relationships/image" Target="../media/image-6-54.png"/><Relationship Id="rId55" Type="http://schemas.openxmlformats.org/officeDocument/2006/relationships/image" Target="../media/image-6-55.png"/><Relationship Id="rId56" Type="http://schemas.openxmlformats.org/officeDocument/2006/relationships/image" Target="../media/image-6-56.png"/><Relationship Id="rId57" Type="http://schemas.openxmlformats.org/officeDocument/2006/relationships/image" Target="../media/image-6-57.png"/><Relationship Id="rId58" Type="http://schemas.openxmlformats.org/officeDocument/2006/relationships/image" Target="../media/image-6-58.png"/><Relationship Id="rId59" Type="http://schemas.openxmlformats.org/officeDocument/2006/relationships/image" Target="../media/image-6-59.png"/><Relationship Id="rId60" Type="http://schemas.openxmlformats.org/officeDocument/2006/relationships/image" Target="../media/image-6-60.png"/><Relationship Id="rId61" Type="http://schemas.openxmlformats.org/officeDocument/2006/relationships/image" Target="../media/image-6-61.png"/><Relationship Id="rId62" Type="http://schemas.openxmlformats.org/officeDocument/2006/relationships/image" Target="../media/image-6-62.png"/><Relationship Id="rId63" Type="http://schemas.openxmlformats.org/officeDocument/2006/relationships/image" Target="../media/image-6-63.png"/><Relationship Id="rId64" Type="http://schemas.openxmlformats.org/officeDocument/2006/relationships/image" Target="../media/image-6-64.png"/><Relationship Id="rId65" Type="http://schemas.openxmlformats.org/officeDocument/2006/relationships/image" Target="../media/image-6-65.png"/><Relationship Id="rId66" Type="http://schemas.openxmlformats.org/officeDocument/2006/relationships/image" Target="../media/image-6-66.png"/><Relationship Id="rId67" Type="http://schemas.openxmlformats.org/officeDocument/2006/relationships/image" Target="../media/image-6-67.png"/><Relationship Id="rId68" Type="http://schemas.openxmlformats.org/officeDocument/2006/relationships/image" Target="../media/image-6-68.png"/><Relationship Id="rId69" Type="http://schemas.openxmlformats.org/officeDocument/2006/relationships/image" Target="../media/image-6-69.png"/><Relationship Id="rId70" Type="http://schemas.openxmlformats.org/officeDocument/2006/relationships/image" Target="../media/image-6-70.png"/><Relationship Id="rId71" Type="http://schemas.openxmlformats.org/officeDocument/2006/relationships/image" Target="../media/image-6-71.png"/><Relationship Id="rId72" Type="http://schemas.openxmlformats.org/officeDocument/2006/relationships/image" Target="../media/image-6-72.png"/><Relationship Id="rId73" Type="http://schemas.openxmlformats.org/officeDocument/2006/relationships/image" Target="../media/image-6-73.png"/><Relationship Id="rId74" Type="http://schemas.openxmlformats.org/officeDocument/2006/relationships/image" Target="../media/image-6-74.png"/><Relationship Id="rId75" Type="http://schemas.openxmlformats.org/officeDocument/2006/relationships/image" Target="../media/image-6-75.png"/><Relationship Id="rId76" Type="http://schemas.openxmlformats.org/officeDocument/2006/relationships/slideLayout" Target="../slideLayouts/slideLayout1.xml"/><Relationship Id="rId7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image" Target="../media/image-7-29.png"/><Relationship Id="rId30" Type="http://schemas.openxmlformats.org/officeDocument/2006/relationships/image" Target="../media/image-7-30.png"/><Relationship Id="rId31" Type="http://schemas.openxmlformats.org/officeDocument/2006/relationships/image" Target="../media/image-7-31.png"/><Relationship Id="rId32" Type="http://schemas.openxmlformats.org/officeDocument/2006/relationships/image" Target="../media/image-7-32.png"/><Relationship Id="rId33" Type="http://schemas.openxmlformats.org/officeDocument/2006/relationships/image" Target="../media/image-7-33.png"/><Relationship Id="rId34" Type="http://schemas.openxmlformats.org/officeDocument/2006/relationships/image" Target="../media/image-7-34.png"/><Relationship Id="rId35" Type="http://schemas.openxmlformats.org/officeDocument/2006/relationships/image" Target="../media/image-7-35.png"/><Relationship Id="rId36" Type="http://schemas.openxmlformats.org/officeDocument/2006/relationships/image" Target="../media/image-7-36.png"/><Relationship Id="rId37" Type="http://schemas.openxmlformats.org/officeDocument/2006/relationships/image" Target="../media/image-7-37.png"/><Relationship Id="rId38" Type="http://schemas.openxmlformats.org/officeDocument/2006/relationships/image" Target="../media/image-7-38.png"/><Relationship Id="rId39" Type="http://schemas.openxmlformats.org/officeDocument/2006/relationships/image" Target="../media/image-7-39.png"/><Relationship Id="rId40" Type="http://schemas.openxmlformats.org/officeDocument/2006/relationships/image" Target="../media/image-7-40.png"/><Relationship Id="rId41" Type="http://schemas.openxmlformats.org/officeDocument/2006/relationships/image" Target="../media/image-7-41.png"/><Relationship Id="rId42" Type="http://schemas.openxmlformats.org/officeDocument/2006/relationships/image" Target="../media/image-7-42.png"/><Relationship Id="rId43" Type="http://schemas.openxmlformats.org/officeDocument/2006/relationships/image" Target="../media/image-7-43.png"/><Relationship Id="rId44" Type="http://schemas.openxmlformats.org/officeDocument/2006/relationships/image" Target="../media/image-7-44.png"/><Relationship Id="rId45" Type="http://schemas.openxmlformats.org/officeDocument/2006/relationships/image" Target="../media/image-7-45.png"/><Relationship Id="rId46" Type="http://schemas.openxmlformats.org/officeDocument/2006/relationships/image" Target="../media/image-7-46.png"/><Relationship Id="rId47" Type="http://schemas.openxmlformats.org/officeDocument/2006/relationships/image" Target="../media/image-7-47.png"/><Relationship Id="rId48" Type="http://schemas.openxmlformats.org/officeDocument/2006/relationships/image" Target="../media/image-7-48.png"/><Relationship Id="rId49" Type="http://schemas.openxmlformats.org/officeDocument/2006/relationships/slideLayout" Target="../slideLayouts/slideLayout1.xml"/><Relationship Id="rId5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image" Target="../media/image-8-29.png"/><Relationship Id="rId30" Type="http://schemas.openxmlformats.org/officeDocument/2006/relationships/image" Target="../media/image-8-30.png"/><Relationship Id="rId31" Type="http://schemas.openxmlformats.org/officeDocument/2006/relationships/image" Target="../media/image-8-31.png"/><Relationship Id="rId32" Type="http://schemas.openxmlformats.org/officeDocument/2006/relationships/image" Target="../media/image-8-32.png"/><Relationship Id="rId33" Type="http://schemas.openxmlformats.org/officeDocument/2006/relationships/image" Target="../media/image-8-33.png"/><Relationship Id="rId34" Type="http://schemas.openxmlformats.org/officeDocument/2006/relationships/image" Target="../media/image-8-34.png"/><Relationship Id="rId35" Type="http://schemas.openxmlformats.org/officeDocument/2006/relationships/image" Target="../media/image-8-35.png"/><Relationship Id="rId36" Type="http://schemas.openxmlformats.org/officeDocument/2006/relationships/image" Target="../media/image-8-36.png"/><Relationship Id="rId37" Type="http://schemas.openxmlformats.org/officeDocument/2006/relationships/image" Target="../media/image-8-37.png"/><Relationship Id="rId38" Type="http://schemas.openxmlformats.org/officeDocument/2006/relationships/image" Target="../media/image-8-38.png"/><Relationship Id="rId39" Type="http://schemas.openxmlformats.org/officeDocument/2006/relationships/image" Target="../media/image-8-39.png"/><Relationship Id="rId40" Type="http://schemas.openxmlformats.org/officeDocument/2006/relationships/image" Target="../media/image-8-40.png"/><Relationship Id="rId41" Type="http://schemas.openxmlformats.org/officeDocument/2006/relationships/image" Target="../media/image-8-41.png"/><Relationship Id="rId42" Type="http://schemas.openxmlformats.org/officeDocument/2006/relationships/image" Target="../media/image-8-42.png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image" Target="../media/image-9-25.png"/><Relationship Id="rId26" Type="http://schemas.openxmlformats.org/officeDocument/2006/relationships/image" Target="../media/image-9-26.png"/><Relationship Id="rId27" Type="http://schemas.openxmlformats.org/officeDocument/2006/relationships/image" Target="../media/image-9-27.png"/><Relationship Id="rId28" Type="http://schemas.openxmlformats.org/officeDocument/2006/relationships/image" Target="../media/image-9-28.png"/><Relationship Id="rId29" Type="http://schemas.openxmlformats.org/officeDocument/2006/relationships/image" Target="../media/image-9-29.png"/><Relationship Id="rId30" Type="http://schemas.openxmlformats.org/officeDocument/2006/relationships/image" Target="../media/image-9-30.png"/><Relationship Id="rId31" Type="http://schemas.openxmlformats.org/officeDocument/2006/relationships/image" Target="../media/image-9-31.png"/><Relationship Id="rId32" Type="http://schemas.openxmlformats.org/officeDocument/2006/relationships/image" Target="../media/image-9-32.png"/><Relationship Id="rId33" Type="http://schemas.openxmlformats.org/officeDocument/2006/relationships/image" Target="../media/image-9-33.png"/><Relationship Id="rId34" Type="http://schemas.openxmlformats.org/officeDocument/2006/relationships/image" Target="../media/image-9-34.png"/><Relationship Id="rId35" Type="http://schemas.openxmlformats.org/officeDocument/2006/relationships/image" Target="../media/image-9-35.png"/><Relationship Id="rId36" Type="http://schemas.openxmlformats.org/officeDocument/2006/relationships/image" Target="../media/image-9-36.png"/><Relationship Id="rId37" Type="http://schemas.openxmlformats.org/officeDocument/2006/relationships/image" Target="../media/image-9-37.png"/><Relationship Id="rId38" Type="http://schemas.openxmlformats.org/officeDocument/2006/relationships/image" Target="../media/image-9-38.png"/><Relationship Id="rId39" Type="http://schemas.openxmlformats.org/officeDocument/2006/relationships/image" Target="../media/image-9-39.png"/><Relationship Id="rId40" Type="http://schemas.openxmlformats.org/officeDocument/2006/relationships/image" Target="../media/image-9-40.png"/><Relationship Id="rId41" Type="http://schemas.openxmlformats.org/officeDocument/2006/relationships/image" Target="../media/image-9-41.png"/><Relationship Id="rId42" Type="http://schemas.openxmlformats.org/officeDocument/2006/relationships/image" Target="../media/image-9-42.png"/><Relationship Id="rId43" Type="http://schemas.openxmlformats.org/officeDocument/2006/relationships/image" Target="../media/image-9-43.png"/><Relationship Id="rId44" Type="http://schemas.openxmlformats.org/officeDocument/2006/relationships/image" Target="../media/image-9-44.png"/><Relationship Id="rId45" Type="http://schemas.openxmlformats.org/officeDocument/2006/relationships/image" Target="../media/image-9-45.png"/><Relationship Id="rId46" Type="http://schemas.openxmlformats.org/officeDocument/2006/relationships/image" Target="../media/image-9-46.png"/><Relationship Id="rId47" Type="http://schemas.openxmlformats.org/officeDocument/2006/relationships/image" Target="../media/image-9-47.png"/><Relationship Id="rId48" Type="http://schemas.openxmlformats.org/officeDocument/2006/relationships/image" Target="../media/image-9-48.png"/><Relationship Id="rId49" Type="http://schemas.openxmlformats.org/officeDocument/2006/relationships/image" Target="../media/image-9-49.png"/><Relationship Id="rId50" Type="http://schemas.openxmlformats.org/officeDocument/2006/relationships/image" Target="../media/image-9-50.png"/><Relationship Id="rId51" Type="http://schemas.openxmlformats.org/officeDocument/2006/relationships/image" Target="../media/image-9-51.png"/><Relationship Id="rId52" Type="http://schemas.openxmlformats.org/officeDocument/2006/relationships/image" Target="../media/image-9-52.png"/><Relationship Id="rId53" Type="http://schemas.openxmlformats.org/officeDocument/2006/relationships/image" Target="../media/image-9-53.png"/><Relationship Id="rId54" Type="http://schemas.openxmlformats.org/officeDocument/2006/relationships/image" Target="../media/image-9-54.png"/><Relationship Id="rId55" Type="http://schemas.openxmlformats.org/officeDocument/2006/relationships/image" Target="../media/image-9-55.png"/><Relationship Id="rId56" Type="http://schemas.openxmlformats.org/officeDocument/2006/relationships/image" Target="../media/image-9-56.png"/><Relationship Id="rId57" Type="http://schemas.openxmlformats.org/officeDocument/2006/relationships/image" Target="../media/image-9-57.png"/><Relationship Id="rId58" Type="http://schemas.openxmlformats.org/officeDocument/2006/relationships/image" Target="../media/image-9-58.png"/><Relationship Id="rId59" Type="http://schemas.openxmlformats.org/officeDocument/2006/relationships/image" Target="../media/image-9-59.png"/><Relationship Id="rId60" Type="http://schemas.openxmlformats.org/officeDocument/2006/relationships/image" Target="../media/image-9-60.png"/><Relationship Id="rId61" Type="http://schemas.openxmlformats.org/officeDocument/2006/relationships/image" Target="../media/image-9-61.png"/><Relationship Id="rId62" Type="http://schemas.openxmlformats.org/officeDocument/2006/relationships/image" Target="../media/image-9-62.png"/><Relationship Id="rId63" Type="http://schemas.openxmlformats.org/officeDocument/2006/relationships/image" Target="../media/image-9-63.png"/><Relationship Id="rId64" Type="http://schemas.openxmlformats.org/officeDocument/2006/relationships/slideLayout" Target="../slideLayouts/slideLayout1.xml"/><Relationship Id="rId6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png"/><Relationship Id="rId27" Type="http://schemas.openxmlformats.org/officeDocument/2006/relationships/image" Target="../media/image-10-27.png"/><Relationship Id="rId28" Type="http://schemas.openxmlformats.org/officeDocument/2006/relationships/image" Target="../media/image-10-28.png"/><Relationship Id="rId29" Type="http://schemas.openxmlformats.org/officeDocument/2006/relationships/image" Target="../media/image-10-29.png"/><Relationship Id="rId30" Type="http://schemas.openxmlformats.org/officeDocument/2006/relationships/image" Target="../media/image-10-30.png"/><Relationship Id="rId31" Type="http://schemas.openxmlformats.org/officeDocument/2006/relationships/image" Target="../media/image-10-31.png"/><Relationship Id="rId32" Type="http://schemas.openxmlformats.org/officeDocument/2006/relationships/image" Target="../media/image-10-32.png"/><Relationship Id="rId33" Type="http://schemas.openxmlformats.org/officeDocument/2006/relationships/image" Target="../media/image-10-33.png"/><Relationship Id="rId34" Type="http://schemas.openxmlformats.org/officeDocument/2006/relationships/image" Target="../media/image-10-34.png"/><Relationship Id="rId35" Type="http://schemas.openxmlformats.org/officeDocument/2006/relationships/image" Target="../media/image-10-35.png"/><Relationship Id="rId36" Type="http://schemas.openxmlformats.org/officeDocument/2006/relationships/image" Target="../media/image-10-36.png"/><Relationship Id="rId37" Type="http://schemas.openxmlformats.org/officeDocument/2006/relationships/image" Target="../media/image-10-37.png"/><Relationship Id="rId38" Type="http://schemas.openxmlformats.org/officeDocument/2006/relationships/image" Target="../media/image-10-38.png"/><Relationship Id="rId39" Type="http://schemas.openxmlformats.org/officeDocument/2006/relationships/image" Target="../media/image-10-39.png"/><Relationship Id="rId40" Type="http://schemas.openxmlformats.org/officeDocument/2006/relationships/image" Target="../media/image-10-40.png"/><Relationship Id="rId41" Type="http://schemas.openxmlformats.org/officeDocument/2006/relationships/image" Target="../media/image-10-41.png"/><Relationship Id="rId42" Type="http://schemas.openxmlformats.org/officeDocument/2006/relationships/image" Target="../media/image-10-42.png"/><Relationship Id="rId43" Type="http://schemas.openxmlformats.org/officeDocument/2006/relationships/image" Target="../media/image-10-43.png"/><Relationship Id="rId44" Type="http://schemas.openxmlformats.org/officeDocument/2006/relationships/image" Target="../media/image-10-44.png"/><Relationship Id="rId45" Type="http://schemas.openxmlformats.org/officeDocument/2006/relationships/image" Target="../media/image-10-45.png"/><Relationship Id="rId46" Type="http://schemas.openxmlformats.org/officeDocument/2006/relationships/image" Target="../media/image-10-46.png"/><Relationship Id="rId47" Type="http://schemas.openxmlformats.org/officeDocument/2006/relationships/image" Target="../media/image-10-47.png"/><Relationship Id="rId48" Type="http://schemas.openxmlformats.org/officeDocument/2006/relationships/image" Target="../media/image-10-48.png"/><Relationship Id="rId49" Type="http://schemas.openxmlformats.org/officeDocument/2006/relationships/image" Target="../media/image-10-49.png"/><Relationship Id="rId50" Type="http://schemas.openxmlformats.org/officeDocument/2006/relationships/image" Target="../media/image-10-50.png"/><Relationship Id="rId51" Type="http://schemas.openxmlformats.org/officeDocument/2006/relationships/image" Target="../media/image-10-51.png"/><Relationship Id="rId52" Type="http://schemas.openxmlformats.org/officeDocument/2006/relationships/image" Target="../media/image-10-52.png"/><Relationship Id="rId53" Type="http://schemas.openxmlformats.org/officeDocument/2006/relationships/image" Target="../media/image-10-53.png"/><Relationship Id="rId54" Type="http://schemas.openxmlformats.org/officeDocument/2006/relationships/slideLayout" Target="../slideLayouts/slideLayout1.xml"/><Relationship Id="rId5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png"/><Relationship Id="rId27" Type="http://schemas.openxmlformats.org/officeDocument/2006/relationships/image" Target="../media/image-11-27.png"/><Relationship Id="rId28" Type="http://schemas.openxmlformats.org/officeDocument/2006/relationships/image" Target="../media/image-11-28.png"/><Relationship Id="rId29" Type="http://schemas.openxmlformats.org/officeDocument/2006/relationships/image" Target="../media/image-11-29.png"/><Relationship Id="rId30" Type="http://schemas.openxmlformats.org/officeDocument/2006/relationships/image" Target="../media/image-11-30.png"/><Relationship Id="rId31" Type="http://schemas.openxmlformats.org/officeDocument/2006/relationships/image" Target="../media/image-11-31.png"/><Relationship Id="rId32" Type="http://schemas.openxmlformats.org/officeDocument/2006/relationships/image" Target="../media/image-11-32.png"/><Relationship Id="rId33" Type="http://schemas.openxmlformats.org/officeDocument/2006/relationships/image" Target="../media/image-11-33.png"/><Relationship Id="rId34" Type="http://schemas.openxmlformats.org/officeDocument/2006/relationships/image" Target="../media/image-11-34.png"/><Relationship Id="rId35" Type="http://schemas.openxmlformats.org/officeDocument/2006/relationships/image" Target="../media/image-11-35.png"/><Relationship Id="rId36" Type="http://schemas.openxmlformats.org/officeDocument/2006/relationships/image" Target="../media/image-11-36.png"/><Relationship Id="rId37" Type="http://schemas.openxmlformats.org/officeDocument/2006/relationships/image" Target="../media/image-11-37.png"/><Relationship Id="rId38" Type="http://schemas.openxmlformats.org/officeDocument/2006/relationships/image" Target="../media/image-11-38.png"/><Relationship Id="rId39" Type="http://schemas.openxmlformats.org/officeDocument/2006/relationships/image" Target="../media/image-11-39.png"/><Relationship Id="rId40" Type="http://schemas.openxmlformats.org/officeDocument/2006/relationships/image" Target="../media/image-11-40.png"/><Relationship Id="rId41" Type="http://schemas.openxmlformats.org/officeDocument/2006/relationships/image" Target="../media/image-11-41.png"/><Relationship Id="rId42" Type="http://schemas.openxmlformats.org/officeDocument/2006/relationships/image" Target="../media/image-11-42.png"/><Relationship Id="rId43" Type="http://schemas.openxmlformats.org/officeDocument/2006/relationships/image" Target="../media/image-11-43.png"/><Relationship Id="rId44" Type="http://schemas.openxmlformats.org/officeDocument/2006/relationships/image" Target="../media/image-11-44.png"/><Relationship Id="rId45" Type="http://schemas.openxmlformats.org/officeDocument/2006/relationships/image" Target="../media/image-11-45.png"/><Relationship Id="rId46" Type="http://schemas.openxmlformats.org/officeDocument/2006/relationships/image" Target="../media/image-11-46.png"/><Relationship Id="rId47" Type="http://schemas.openxmlformats.org/officeDocument/2006/relationships/image" Target="../media/image-11-47.png"/><Relationship Id="rId48" Type="http://schemas.openxmlformats.org/officeDocument/2006/relationships/image" Target="../media/image-11-48.png"/><Relationship Id="rId49" Type="http://schemas.openxmlformats.org/officeDocument/2006/relationships/image" Target="../media/image-11-49.png"/><Relationship Id="rId50" Type="http://schemas.openxmlformats.org/officeDocument/2006/relationships/image" Target="../media/image-11-50.png"/><Relationship Id="rId51" Type="http://schemas.openxmlformats.org/officeDocument/2006/relationships/image" Target="../media/image-11-51.png"/><Relationship Id="rId52" Type="http://schemas.openxmlformats.org/officeDocument/2006/relationships/image" Target="../media/image-11-52.png"/><Relationship Id="rId53" Type="http://schemas.openxmlformats.org/officeDocument/2006/relationships/image" Target="../media/image-11-53.png"/><Relationship Id="rId54" Type="http://schemas.openxmlformats.org/officeDocument/2006/relationships/image" Target="../media/image-11-54.png"/><Relationship Id="rId55" Type="http://schemas.openxmlformats.org/officeDocument/2006/relationships/image" Target="../media/image-11-55.png"/><Relationship Id="rId56" Type="http://schemas.openxmlformats.org/officeDocument/2006/relationships/image" Target="../media/image-11-56.png"/><Relationship Id="rId57" Type="http://schemas.openxmlformats.org/officeDocument/2006/relationships/image" Target="../media/image-11-57.png"/><Relationship Id="rId58" Type="http://schemas.openxmlformats.org/officeDocument/2006/relationships/image" Target="../media/image-11-58.png"/><Relationship Id="rId59" Type="http://schemas.openxmlformats.org/officeDocument/2006/relationships/image" Target="../media/image-11-59.png"/><Relationship Id="rId60" Type="http://schemas.openxmlformats.org/officeDocument/2006/relationships/slideLayout" Target="../slideLayouts/slideLayout1.xml"/><Relationship Id="rId6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pn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pn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png"/><Relationship Id="rId29" Type="http://schemas.openxmlformats.org/officeDocument/2006/relationships/image" Target="../media/image-12-29.png"/><Relationship Id="rId30" Type="http://schemas.openxmlformats.org/officeDocument/2006/relationships/image" Target="../media/image-12-30.png"/><Relationship Id="rId31" Type="http://schemas.openxmlformats.org/officeDocument/2006/relationships/image" Target="../media/image-12-31.png"/><Relationship Id="rId32" Type="http://schemas.openxmlformats.org/officeDocument/2006/relationships/image" Target="../media/image-12-32.png"/><Relationship Id="rId33" Type="http://schemas.openxmlformats.org/officeDocument/2006/relationships/image" Target="../media/image-12-33.png"/><Relationship Id="rId34" Type="http://schemas.openxmlformats.org/officeDocument/2006/relationships/image" Target="../media/image-12-34.png"/><Relationship Id="rId35" Type="http://schemas.openxmlformats.org/officeDocument/2006/relationships/image" Target="../media/image-12-35.png"/><Relationship Id="rId36" Type="http://schemas.openxmlformats.org/officeDocument/2006/relationships/image" Target="../media/image-12-36.png"/><Relationship Id="rId37" Type="http://schemas.openxmlformats.org/officeDocument/2006/relationships/image" Target="../media/image-12-37.png"/><Relationship Id="rId38" Type="http://schemas.openxmlformats.org/officeDocument/2006/relationships/image" Target="../media/image-12-38.png"/><Relationship Id="rId39" Type="http://schemas.openxmlformats.org/officeDocument/2006/relationships/image" Target="../media/image-12-39.png"/><Relationship Id="rId40" Type="http://schemas.openxmlformats.org/officeDocument/2006/relationships/image" Target="../media/image-12-40.png"/><Relationship Id="rId41" Type="http://schemas.openxmlformats.org/officeDocument/2006/relationships/image" Target="../media/image-12-41.png"/><Relationship Id="rId42" Type="http://schemas.openxmlformats.org/officeDocument/2006/relationships/image" Target="../media/image-12-42.png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png"/><Relationship Id="rId25" Type="http://schemas.openxmlformats.org/officeDocument/2006/relationships/image" Target="../media/image-13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975" y="4476750"/>
            <a:ext cx="4972050" cy="5238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975" y="4981575"/>
            <a:ext cx="4972050" cy="5238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3975" y="5486400"/>
            <a:ext cx="4972050" cy="5238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3300" y="561975"/>
            <a:ext cx="1428750" cy="18764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0" y="561975"/>
            <a:ext cx="2686050" cy="18764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6050" y="561975"/>
            <a:ext cx="1885950" cy="187642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3300" y="2609850"/>
            <a:ext cx="4010025" cy="18764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25250" y="2609850"/>
            <a:ext cx="666750" cy="18764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53300" y="4562475"/>
            <a:ext cx="2400300" cy="17335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6800" y="4562475"/>
            <a:ext cx="2400300" cy="17335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63150" y="4562475"/>
            <a:ext cx="2228850" cy="173355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571500" y="762000"/>
            <a:ext cx="6410325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Prédictive</a:t>
            </a:r>
            <a:endParaRPr lang="en-US" sz="5900" dirty="0"/>
          </a:p>
        </p:txBody>
      </p:sp>
      <p:sp>
        <p:nvSpPr>
          <p:cNvPr id="16" name="Text 1"/>
          <p:cNvSpPr/>
          <p:nvPr/>
        </p:nvSpPr>
        <p:spPr>
          <a:xfrm>
            <a:off x="571500" y="2712541"/>
            <a:ext cx="641032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EA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Prédiction de la Durée de Vie des Équipements Industriels par Machine Learning</a:t>
            </a:r>
            <a:endParaRPr lang="en-US" sz="2200" dirty="0"/>
          </a:p>
        </p:txBody>
      </p:sp>
      <p:pic>
        <p:nvPicPr>
          <p:cNvPr id="1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1475" y="5229225"/>
            <a:ext cx="971550" cy="971550"/>
          </a:xfrm>
          <a:prstGeom prst="rect">
            <a:avLst/>
          </a:prstGeom>
        </p:spPr>
      </p:pic>
      <p:sp>
        <p:nvSpPr>
          <p:cNvPr id="18" name="Text 2"/>
          <p:cNvSpPr/>
          <p:nvPr/>
        </p:nvSpPr>
        <p:spPr>
          <a:xfrm>
            <a:off x="1333500" y="4600575"/>
            <a:ext cx="14763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Mai 2026</a:t>
            </a:r>
            <a:endParaRPr lang="en-US" sz="1500" dirty="0"/>
          </a:p>
        </p:txBody>
      </p:sp>
      <p:sp>
        <p:nvSpPr>
          <p:cNvPr id="19" name="Text 3"/>
          <p:cNvSpPr/>
          <p:nvPr/>
        </p:nvSpPr>
        <p:spPr>
          <a:xfrm>
            <a:off x="1333500" y="5105400"/>
            <a:ext cx="4191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Domaine: Machine Learning / Industrie 4.0</a:t>
            </a:r>
            <a:endParaRPr lang="en-US" sz="1500" dirty="0"/>
          </a:p>
        </p:txBody>
      </p:sp>
      <p:sp>
        <p:nvSpPr>
          <p:cNvPr id="20" name="Text 4"/>
          <p:cNvSpPr/>
          <p:nvPr/>
        </p:nvSpPr>
        <p:spPr>
          <a:xfrm>
            <a:off x="1333500" y="5610225"/>
            <a:ext cx="42767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Technologies: Python, scikit-learn, XGBoost</a:t>
            </a:r>
            <a:endParaRPr lang="en-US" sz="1500" dirty="0"/>
          </a:p>
        </p:txBody>
      </p:sp>
      <p:sp>
        <p:nvSpPr>
          <p:cNvPr id="21" name="Text 5"/>
          <p:cNvSpPr/>
          <p:nvPr/>
        </p:nvSpPr>
        <p:spPr>
          <a:xfrm>
            <a:off x="8279309" y="3043238"/>
            <a:ext cx="215265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6200" dirty="0"/>
          </a:p>
        </p:txBody>
      </p:sp>
      <p:pic>
        <p:nvPicPr>
          <p:cNvPr id="2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011025" y="3105150"/>
            <a:ext cx="180975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38250" y="476250"/>
            <a:ext cx="4667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6800" dirty="0"/>
          </a:p>
        </p:txBody>
      </p:sp>
      <p:sp>
        <p:nvSpPr>
          <p:cNvPr id="5" name="Text 1"/>
          <p:cNvSpPr/>
          <p:nvPr/>
        </p:nvSpPr>
        <p:spPr>
          <a:xfrm>
            <a:off x="285750" y="2700338"/>
            <a:ext cx="9629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Contexte &amp; Enjeux Industriels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0887075" y="2700338"/>
            <a:ext cx="1019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85750" y="3300413"/>
            <a:ext cx="9629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Objectifs &amp; Concept RUL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887075" y="3300413"/>
            <a:ext cx="1019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285750" y="3900488"/>
            <a:ext cx="9629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Données &amp; Pipeline ML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887075" y="3900488"/>
            <a:ext cx="1019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285750" y="4500563"/>
            <a:ext cx="9629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Modélisation &amp; Performance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0887075" y="4500563"/>
            <a:ext cx="1019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285750" y="5100638"/>
            <a:ext cx="9629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Explicabilité SHAP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0887075" y="5100638"/>
            <a:ext cx="1019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285750" y="5700713"/>
            <a:ext cx="9629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Déploiement &amp; Roadmap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10887075" y="5700713"/>
            <a:ext cx="1019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285750" y="6300788"/>
            <a:ext cx="9629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Conclusion &amp; Perspectives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10887075" y="6300788"/>
            <a:ext cx="1019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0"/>
            <a:ext cx="6972300" cy="40576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00350"/>
            <a:ext cx="121920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875" y="0"/>
            <a:ext cx="38100" cy="6858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33475"/>
            <a:ext cx="1152525" cy="76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114550"/>
            <a:ext cx="5248275" cy="5619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75" y="2114550"/>
            <a:ext cx="495300" cy="4953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895600"/>
            <a:ext cx="5248275" cy="5619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575" y="2895600"/>
            <a:ext cx="495300" cy="4953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3676650"/>
            <a:ext cx="5248275" cy="6000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5" y="3695700"/>
            <a:ext cx="495300" cy="4953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0225" y="3152775"/>
            <a:ext cx="6581775" cy="1743075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Industrie 4.0 &amp; Enjeux de la Maintenance Prédictive</a:t>
            </a:r>
            <a:endParaRPr lang="en-US" sz="3400" dirty="0"/>
          </a:p>
        </p:txBody>
      </p:sp>
      <p:sp>
        <p:nvSpPr>
          <p:cNvPr id="16" name="Text 1"/>
          <p:cNvSpPr/>
          <p:nvPr/>
        </p:nvSpPr>
        <p:spPr>
          <a:xfrm>
            <a:off x="0" y="1200150"/>
            <a:ext cx="523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6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PRÉDICTIVE VS CORRECTIVE VS PRÉVENTIVE</a:t>
            </a:r>
            <a:endParaRPr lang="en-US" sz="1700" dirty="0"/>
          </a:p>
        </p:txBody>
      </p:sp>
      <p:pic>
        <p:nvPicPr>
          <p:cNvPr id="1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1450" y="2257425"/>
            <a:ext cx="209550" cy="209550"/>
          </a:xfrm>
          <a:prstGeom prst="rect">
            <a:avLst/>
          </a:prstGeom>
        </p:spPr>
      </p:pic>
      <p:sp>
        <p:nvSpPr>
          <p:cNvPr id="18" name="Text 2"/>
          <p:cNvSpPr/>
          <p:nvPr/>
        </p:nvSpPr>
        <p:spPr>
          <a:xfrm>
            <a:off x="666750" y="2124075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Corrective</a:t>
            </a:r>
            <a:endParaRPr lang="en-US" sz="1400" dirty="0"/>
          </a:p>
        </p:txBody>
      </p:sp>
      <p:sp>
        <p:nvSpPr>
          <p:cNvPr id="19" name="Text 3"/>
          <p:cNvSpPr/>
          <p:nvPr/>
        </p:nvSpPr>
        <p:spPr>
          <a:xfrm>
            <a:off x="666750" y="2409825"/>
            <a:ext cx="18859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Réparation après panne</a:t>
            </a:r>
            <a:endParaRPr lang="en-US" sz="1200" dirty="0"/>
          </a:p>
        </p:txBody>
      </p:sp>
      <p:pic>
        <p:nvPicPr>
          <p:cNvPr id="2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0975" y="3038475"/>
            <a:ext cx="190500" cy="209550"/>
          </a:xfrm>
          <a:prstGeom prst="rect">
            <a:avLst/>
          </a:prstGeom>
        </p:spPr>
      </p:pic>
      <p:sp>
        <p:nvSpPr>
          <p:cNvPr id="21" name="Text 4"/>
          <p:cNvSpPr/>
          <p:nvPr/>
        </p:nvSpPr>
        <p:spPr>
          <a:xfrm>
            <a:off x="666750" y="2905125"/>
            <a:ext cx="2228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Préventive</a:t>
            </a:r>
            <a:endParaRPr lang="en-US" sz="1400" dirty="0"/>
          </a:p>
        </p:txBody>
      </p:sp>
      <p:sp>
        <p:nvSpPr>
          <p:cNvPr id="22" name="Text 5"/>
          <p:cNvSpPr/>
          <p:nvPr/>
        </p:nvSpPr>
        <p:spPr>
          <a:xfrm>
            <a:off x="666750" y="3190875"/>
            <a:ext cx="22288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Entretien périodique planifié</a:t>
            </a:r>
            <a:endParaRPr lang="en-US" sz="1200" dirty="0"/>
          </a:p>
        </p:txBody>
      </p:sp>
      <p:pic>
        <p:nvPicPr>
          <p:cNvPr id="2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400" y="3838575"/>
            <a:ext cx="209550" cy="209550"/>
          </a:xfrm>
          <a:prstGeom prst="rect">
            <a:avLst/>
          </a:prstGeom>
        </p:spPr>
      </p:pic>
      <p:sp>
        <p:nvSpPr>
          <p:cNvPr id="24" name="Text 6"/>
          <p:cNvSpPr/>
          <p:nvPr/>
        </p:nvSpPr>
        <p:spPr>
          <a:xfrm>
            <a:off x="647700" y="3705225"/>
            <a:ext cx="27717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A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Prédictive</a:t>
            </a:r>
            <a:endParaRPr lang="en-US" sz="1400" dirty="0"/>
          </a:p>
        </p:txBody>
      </p:sp>
      <p:sp>
        <p:nvSpPr>
          <p:cNvPr id="25" name="Text 7"/>
          <p:cNvSpPr/>
          <p:nvPr/>
        </p:nvSpPr>
        <p:spPr>
          <a:xfrm>
            <a:off x="647700" y="3990975"/>
            <a:ext cx="27717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Anticipation basée sur les données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5810250" y="1200150"/>
            <a:ext cx="638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6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ENJEUX CLÉS</a:t>
            </a:r>
            <a:endParaRPr lang="en-US" sz="1700" dirty="0"/>
          </a:p>
        </p:txBody>
      </p:sp>
      <p:pic>
        <p:nvPicPr>
          <p:cNvPr id="2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00725" y="1819275"/>
            <a:ext cx="209550" cy="209550"/>
          </a:xfrm>
          <a:prstGeom prst="rect">
            <a:avLst/>
          </a:prstGeom>
        </p:spPr>
      </p:pic>
      <p:sp>
        <p:nvSpPr>
          <p:cNvPr id="28" name="Text 9"/>
          <p:cNvSpPr/>
          <p:nvPr/>
        </p:nvSpPr>
        <p:spPr>
          <a:xfrm>
            <a:off x="6153150" y="1828800"/>
            <a:ext cx="421957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de la durée de vie des équipements</a:t>
            </a:r>
            <a:endParaRPr lang="en-US" sz="1400" dirty="0"/>
          </a:p>
        </p:txBody>
      </p:sp>
      <p:pic>
        <p:nvPicPr>
          <p:cNvPr id="2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00725" y="2305050"/>
            <a:ext cx="209550" cy="219075"/>
          </a:xfrm>
          <a:prstGeom prst="rect">
            <a:avLst/>
          </a:prstGeom>
        </p:spPr>
      </p:pic>
      <p:sp>
        <p:nvSpPr>
          <p:cNvPr id="30" name="Text 10"/>
          <p:cNvSpPr/>
          <p:nvPr/>
        </p:nvSpPr>
        <p:spPr>
          <a:xfrm>
            <a:off x="6153150" y="2319338"/>
            <a:ext cx="363855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Amélioration de la sécurité des opérateurs</a:t>
            </a:r>
            <a:endParaRPr lang="en-US" sz="1400" dirty="0"/>
          </a:p>
        </p:txBody>
      </p:sp>
      <p:pic>
        <p:nvPicPr>
          <p:cNvPr id="3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00725" y="2800350"/>
            <a:ext cx="209550" cy="209550"/>
          </a:xfrm>
          <a:prstGeom prst="rect">
            <a:avLst/>
          </a:prstGeom>
        </p:spPr>
      </p:pic>
      <p:sp>
        <p:nvSpPr>
          <p:cNvPr id="32" name="Text 11"/>
          <p:cNvSpPr/>
          <p:nvPr/>
        </p:nvSpPr>
        <p:spPr>
          <a:xfrm>
            <a:off x="6153150" y="2809875"/>
            <a:ext cx="493395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Planification proactive des interventions de maintenance</a:t>
            </a:r>
            <a:endParaRPr lang="en-US" sz="1400" dirty="0"/>
          </a:p>
        </p:txBody>
      </p:sp>
      <p:sp>
        <p:nvSpPr>
          <p:cNvPr id="33" name="Text 12"/>
          <p:cNvSpPr/>
          <p:nvPr/>
        </p:nvSpPr>
        <p:spPr>
          <a:xfrm>
            <a:off x="5810250" y="3357563"/>
            <a:ext cx="6381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Économique Majeur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5810250" y="3690937"/>
            <a:ext cx="20669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260 000 €</a:t>
            </a:r>
            <a:endParaRPr lang="en-US" sz="2900" dirty="0"/>
          </a:p>
        </p:txBody>
      </p:sp>
      <p:sp>
        <p:nvSpPr>
          <p:cNvPr id="35" name="Text 14"/>
          <p:cNvSpPr/>
          <p:nvPr/>
        </p:nvSpPr>
        <p:spPr>
          <a:xfrm>
            <a:off x="7991475" y="3862387"/>
            <a:ext cx="742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heure</a:t>
            </a:r>
            <a:endParaRPr lang="en-US" sz="1700" dirty="0"/>
          </a:p>
        </p:txBody>
      </p:sp>
      <p:sp>
        <p:nvSpPr>
          <p:cNvPr id="36" name="Text 15"/>
          <p:cNvSpPr/>
          <p:nvPr/>
        </p:nvSpPr>
        <p:spPr>
          <a:xfrm>
            <a:off x="5810250" y="4367213"/>
            <a:ext cx="638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moyen des arrêts non planifiés en industrie lourde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225" y="942975"/>
            <a:ext cx="3829050" cy="38290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38600"/>
            <a:ext cx="121920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0"/>
            <a:ext cx="38100" cy="6858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61975"/>
            <a:ext cx="1152525" cy="76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295400"/>
            <a:ext cx="85725" cy="952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962150"/>
            <a:ext cx="85725" cy="952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390775"/>
            <a:ext cx="85725" cy="952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2819400"/>
            <a:ext cx="85725" cy="952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3438525"/>
            <a:ext cx="5534025" cy="16192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91225" y="1200150"/>
            <a:ext cx="6200775" cy="533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53100" y="1704975"/>
            <a:ext cx="6438900" cy="1485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91225" y="3067050"/>
            <a:ext cx="6200775" cy="29527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91225" y="3495675"/>
            <a:ext cx="6200775" cy="295275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&amp; Remaining Useful Life (RUL)</a:t>
            </a:r>
            <a:endParaRPr lang="en-US" sz="3400" dirty="0"/>
          </a:p>
        </p:txBody>
      </p:sp>
      <p:pic>
        <p:nvPicPr>
          <p:cNvPr id="1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76275"/>
            <a:ext cx="238125" cy="247650"/>
          </a:xfrm>
          <a:prstGeom prst="rect">
            <a:avLst/>
          </a:prstGeom>
        </p:spPr>
      </p:pic>
      <p:sp>
        <p:nvSpPr>
          <p:cNvPr id="19" name="Text 1"/>
          <p:cNvSpPr/>
          <p:nvPr/>
        </p:nvSpPr>
        <p:spPr>
          <a:xfrm>
            <a:off x="342900" y="628650"/>
            <a:ext cx="2609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6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PROJET</a:t>
            </a:r>
            <a:endParaRPr lang="en-US" sz="1700" dirty="0"/>
          </a:p>
        </p:txBody>
      </p:sp>
      <p:sp>
        <p:nvSpPr>
          <p:cNvPr id="20" name="Text 2"/>
          <p:cNvSpPr/>
          <p:nvPr/>
        </p:nvSpPr>
        <p:spPr>
          <a:xfrm>
            <a:off x="228600" y="1209675"/>
            <a:ext cx="52959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un modèle de régression pour prédire le RUL (cycles restants avant panne)</a:t>
            </a:r>
            <a:endParaRPr lang="en-US" sz="1400" dirty="0"/>
          </a:p>
        </p:txBody>
      </p:sp>
      <p:sp>
        <p:nvSpPr>
          <p:cNvPr id="21" name="Text 3"/>
          <p:cNvSpPr/>
          <p:nvPr/>
        </p:nvSpPr>
        <p:spPr>
          <a:xfrm>
            <a:off x="228600" y="1876425"/>
            <a:ext cx="42767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capteurs les plus influents via SHAP</a:t>
            </a:r>
            <a:endParaRPr lang="en-US" sz="1400" dirty="0"/>
          </a:p>
        </p:txBody>
      </p:sp>
      <p:sp>
        <p:nvSpPr>
          <p:cNvPr id="22" name="Text 4"/>
          <p:cNvSpPr/>
          <p:nvPr/>
        </p:nvSpPr>
        <p:spPr>
          <a:xfrm>
            <a:off x="228600" y="2305050"/>
            <a:ext cx="428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Fournir un pipeline reproductible de bout en bout</a:t>
            </a:r>
            <a:endParaRPr lang="en-US" sz="1400" dirty="0"/>
          </a:p>
        </p:txBody>
      </p:sp>
      <p:sp>
        <p:nvSpPr>
          <p:cNvPr id="23" name="Text 5"/>
          <p:cNvSpPr/>
          <p:nvPr/>
        </p:nvSpPr>
        <p:spPr>
          <a:xfrm>
            <a:off x="228600" y="2733675"/>
            <a:ext cx="52959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Évaluer les performances sur benchmarks publics (NASA CMAPSS, AI4I 2020)</a:t>
            </a:r>
            <a:endParaRPr lang="en-US" sz="1400" dirty="0"/>
          </a:p>
        </p:txBody>
      </p:sp>
      <p:pic>
        <p:nvPicPr>
          <p:cNvPr id="2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3448050"/>
            <a:ext cx="5524500" cy="285750"/>
          </a:xfrm>
          <a:prstGeom prst="rect">
            <a:avLst/>
          </a:prstGeom>
        </p:spPr>
      </p:pic>
      <p:sp>
        <p:nvSpPr>
          <p:cNvPr id="25" name="Text 6"/>
          <p:cNvSpPr/>
          <p:nvPr/>
        </p:nvSpPr>
        <p:spPr>
          <a:xfrm>
            <a:off x="9525" y="3457575"/>
            <a:ext cx="550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Résumé Technique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9525" y="3838575"/>
            <a:ext cx="26765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</a:t>
            </a:r>
            <a:endParaRPr lang="en-US" sz="900" dirty="0"/>
          </a:p>
        </p:txBody>
      </p:sp>
      <p:sp>
        <p:nvSpPr>
          <p:cNvPr id="27" name="Text 8"/>
          <p:cNvSpPr/>
          <p:nvPr/>
        </p:nvSpPr>
        <p:spPr>
          <a:xfrm>
            <a:off x="9525" y="4038600"/>
            <a:ext cx="2676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Régression supervisée + Classification binaire</a:t>
            </a:r>
            <a:endParaRPr lang="en-US" sz="1100" dirty="0"/>
          </a:p>
        </p:txBody>
      </p:sp>
      <p:sp>
        <p:nvSpPr>
          <p:cNvPr id="28" name="Text 9"/>
          <p:cNvSpPr/>
          <p:nvPr/>
        </p:nvSpPr>
        <p:spPr>
          <a:xfrm>
            <a:off x="2838450" y="3838575"/>
            <a:ext cx="26765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</a:t>
            </a:r>
            <a:endParaRPr lang="en-US" sz="900" dirty="0"/>
          </a:p>
        </p:txBody>
      </p:sp>
      <p:sp>
        <p:nvSpPr>
          <p:cNvPr id="29" name="Text 10"/>
          <p:cNvSpPr/>
          <p:nvPr/>
        </p:nvSpPr>
        <p:spPr>
          <a:xfrm>
            <a:off x="2838450" y="4038600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scikit-learn, XGBoost, SHAP</a:t>
            </a:r>
            <a:endParaRPr lang="en-US" sz="1100" dirty="0"/>
          </a:p>
        </p:txBody>
      </p:sp>
      <p:sp>
        <p:nvSpPr>
          <p:cNvPr id="30" name="Text 11"/>
          <p:cNvSpPr/>
          <p:nvPr/>
        </p:nvSpPr>
        <p:spPr>
          <a:xfrm>
            <a:off x="9525" y="4610100"/>
            <a:ext cx="55054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 clés</a:t>
            </a:r>
            <a:endParaRPr lang="en-US" sz="900" dirty="0"/>
          </a:p>
        </p:txBody>
      </p:sp>
      <p:sp>
        <p:nvSpPr>
          <p:cNvPr id="31" name="Text 12"/>
          <p:cNvSpPr/>
          <p:nvPr/>
        </p:nvSpPr>
        <p:spPr>
          <a:xfrm>
            <a:off x="9525" y="4810125"/>
            <a:ext cx="550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A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MAE, R²</a:t>
            </a:r>
            <a:endParaRPr lang="en-US" sz="1100" dirty="0"/>
          </a:p>
        </p:txBody>
      </p:sp>
      <p:pic>
        <p:nvPicPr>
          <p:cNvPr id="3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91225" y="676275"/>
            <a:ext cx="247650" cy="247650"/>
          </a:xfrm>
          <a:prstGeom prst="rect">
            <a:avLst/>
          </a:prstGeom>
        </p:spPr>
      </p:pic>
      <p:sp>
        <p:nvSpPr>
          <p:cNvPr id="33" name="Text 13"/>
          <p:cNvSpPr/>
          <p:nvPr/>
        </p:nvSpPr>
        <p:spPr>
          <a:xfrm>
            <a:off x="6343650" y="628650"/>
            <a:ext cx="161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6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RUL</a:t>
            </a:r>
            <a:endParaRPr lang="en-US" sz="1700" dirty="0"/>
          </a:p>
        </p:txBody>
      </p:sp>
      <p:sp>
        <p:nvSpPr>
          <p:cNvPr id="34" name="Text 14"/>
          <p:cNvSpPr/>
          <p:nvPr/>
        </p:nvSpPr>
        <p:spPr>
          <a:xfrm>
            <a:off x="6038850" y="1209675"/>
            <a:ext cx="61531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Définition</a:t>
            </a:r>
            <a:endParaRPr lang="en-US" sz="1200" dirty="0"/>
          </a:p>
        </p:txBody>
      </p:sp>
      <p:sp>
        <p:nvSpPr>
          <p:cNvPr id="35" name="Text 15"/>
          <p:cNvSpPr/>
          <p:nvPr/>
        </p:nvSpPr>
        <p:spPr>
          <a:xfrm>
            <a:off x="6038850" y="1466850"/>
            <a:ext cx="61531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cycles restants avant dégradation critique</a:t>
            </a:r>
            <a:endParaRPr lang="en-US" sz="1200" dirty="0"/>
          </a:p>
        </p:txBody>
      </p:sp>
      <p:sp>
        <p:nvSpPr>
          <p:cNvPr id="36" name="Text 16"/>
          <p:cNvSpPr/>
          <p:nvPr/>
        </p:nvSpPr>
        <p:spPr>
          <a:xfrm>
            <a:off x="8018115" y="1952625"/>
            <a:ext cx="2156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Formule de calcul</a:t>
            </a:r>
            <a:endParaRPr lang="en-US" sz="1100" dirty="0"/>
          </a:p>
        </p:txBody>
      </p:sp>
      <p:sp>
        <p:nvSpPr>
          <p:cNvPr id="37" name="Text 17"/>
          <p:cNvSpPr/>
          <p:nvPr/>
        </p:nvSpPr>
        <p:spPr>
          <a:xfrm>
            <a:off x="6040041" y="2333625"/>
            <a:ext cx="6112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RUL(t) = Cycle_max − Cycle_actuel</a:t>
            </a:r>
            <a:endParaRPr lang="en-US" sz="2500" dirty="0"/>
          </a:p>
        </p:txBody>
      </p:sp>
      <p:pic>
        <p:nvPicPr>
          <p:cNvPr id="3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00750" y="3105150"/>
            <a:ext cx="209550" cy="219075"/>
          </a:xfrm>
          <a:prstGeom prst="rect">
            <a:avLst/>
          </a:prstGeom>
        </p:spPr>
      </p:pic>
      <p:sp>
        <p:nvSpPr>
          <p:cNvPr id="39" name="Text 18"/>
          <p:cNvSpPr/>
          <p:nvPr/>
        </p:nvSpPr>
        <p:spPr>
          <a:xfrm>
            <a:off x="6353175" y="3086100"/>
            <a:ext cx="42767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Seuil d'alerte: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RUL &lt; 30 cycles → alerte maintenance</a:t>
            </a:r>
            <a:endParaRPr lang="en-US" sz="1200" dirty="0"/>
          </a:p>
        </p:txBody>
      </p:sp>
      <p:pic>
        <p:nvPicPr>
          <p:cNvPr id="4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00750" y="3533775"/>
            <a:ext cx="238125" cy="219075"/>
          </a:xfrm>
          <a:prstGeom prst="rect">
            <a:avLst/>
          </a:prstGeom>
        </p:spPr>
      </p:pic>
      <p:sp>
        <p:nvSpPr>
          <p:cNvPr id="41" name="Text 19"/>
          <p:cNvSpPr/>
          <p:nvPr/>
        </p:nvSpPr>
        <p:spPr>
          <a:xfrm>
            <a:off x="6381750" y="3514725"/>
            <a:ext cx="5524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Modélisation: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Régression supervisée (X = features capteurs, y = RUL)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" cy="13811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025" y="0"/>
            <a:ext cx="1381125" cy="13811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75" y="0"/>
            <a:ext cx="1381125" cy="13811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8125" y="0"/>
            <a:ext cx="1381125" cy="13811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0675" y="0"/>
            <a:ext cx="1390650" cy="13811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0" y="0"/>
            <a:ext cx="1381125" cy="13811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5300" y="0"/>
            <a:ext cx="1381125" cy="138112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7850" y="0"/>
            <a:ext cx="1381125" cy="13811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0400" y="0"/>
            <a:ext cx="1371600" cy="13811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1362075"/>
            <a:ext cx="1371600" cy="13906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3025" y="1362075"/>
            <a:ext cx="1381125" cy="13906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5575" y="1362075"/>
            <a:ext cx="1381125" cy="13906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48125" y="1362075"/>
            <a:ext cx="1381125" cy="13906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00675" y="1362075"/>
            <a:ext cx="1390650" cy="13906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0" y="1362075"/>
            <a:ext cx="1381125" cy="13906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15300" y="1362075"/>
            <a:ext cx="1381125" cy="13906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67850" y="1362075"/>
            <a:ext cx="1381125" cy="13906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20400" y="1362075"/>
            <a:ext cx="1371600" cy="139065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2733675"/>
            <a:ext cx="1371600" cy="13906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43025" y="2733675"/>
            <a:ext cx="1381125" cy="139065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95575" y="2733675"/>
            <a:ext cx="1381125" cy="139065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48125" y="2733675"/>
            <a:ext cx="1381125" cy="139065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00675" y="2733675"/>
            <a:ext cx="1390650" cy="139065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762750" y="2733675"/>
            <a:ext cx="1381125" cy="139065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15300" y="2733675"/>
            <a:ext cx="1381125" cy="139065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467850" y="2733675"/>
            <a:ext cx="1381125" cy="139065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820400" y="2733675"/>
            <a:ext cx="1371600" cy="139065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0" y="4105275"/>
            <a:ext cx="1371600" cy="139065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43025" y="4105275"/>
            <a:ext cx="1381125" cy="139065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695575" y="4105275"/>
            <a:ext cx="1381125" cy="139065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48125" y="4105275"/>
            <a:ext cx="1381125" cy="139065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400675" y="4105275"/>
            <a:ext cx="1390650" cy="1390650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762750" y="4105275"/>
            <a:ext cx="1381125" cy="1390650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115300" y="4105275"/>
            <a:ext cx="1381125" cy="1390650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467850" y="4105275"/>
            <a:ext cx="1381125" cy="1390650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820400" y="4105275"/>
            <a:ext cx="1371600" cy="1390650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0" y="5476875"/>
            <a:ext cx="1371600" cy="1381125"/>
          </a:xfrm>
          <a:prstGeom prst="rect">
            <a:avLst/>
          </a:prstGeom>
        </p:spPr>
      </p:pic>
      <p:pic>
        <p:nvPicPr>
          <p:cNvPr id="4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343025" y="5476875"/>
            <a:ext cx="1381125" cy="1381125"/>
          </a:xfrm>
          <a:prstGeom prst="rect">
            <a:avLst/>
          </a:prstGeom>
        </p:spPr>
      </p:pic>
      <p:pic>
        <p:nvPicPr>
          <p:cNvPr id="41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695575" y="5476875"/>
            <a:ext cx="1381125" cy="1381125"/>
          </a:xfrm>
          <a:prstGeom prst="rect">
            <a:avLst/>
          </a:prstGeom>
        </p:spPr>
      </p:pic>
      <p:pic>
        <p:nvPicPr>
          <p:cNvPr id="4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048125" y="5476875"/>
            <a:ext cx="1381125" cy="1381125"/>
          </a:xfrm>
          <a:prstGeom prst="rect">
            <a:avLst/>
          </a:prstGeom>
        </p:spPr>
      </p:pic>
      <p:pic>
        <p:nvPicPr>
          <p:cNvPr id="43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400675" y="5476875"/>
            <a:ext cx="1390650" cy="1381125"/>
          </a:xfrm>
          <a:prstGeom prst="rect">
            <a:avLst/>
          </a:prstGeom>
        </p:spPr>
      </p:pic>
      <p:pic>
        <p:nvPicPr>
          <p:cNvPr id="44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762750" y="5476875"/>
            <a:ext cx="1381125" cy="1381125"/>
          </a:xfrm>
          <a:prstGeom prst="rect">
            <a:avLst/>
          </a:prstGeom>
        </p:spPr>
      </p:pic>
      <p:pic>
        <p:nvPicPr>
          <p:cNvPr id="45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115300" y="5476875"/>
            <a:ext cx="1381125" cy="1381125"/>
          </a:xfrm>
          <a:prstGeom prst="rect">
            <a:avLst/>
          </a:prstGeom>
        </p:spPr>
      </p:pic>
      <p:pic>
        <p:nvPicPr>
          <p:cNvPr id="4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467850" y="5476875"/>
            <a:ext cx="1381125" cy="1381125"/>
          </a:xfrm>
          <a:prstGeom prst="rect">
            <a:avLst/>
          </a:prstGeom>
        </p:spPr>
      </p:pic>
      <p:pic>
        <p:nvPicPr>
          <p:cNvPr id="47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820400" y="5476875"/>
            <a:ext cx="1371600" cy="1381125"/>
          </a:xfrm>
          <a:prstGeom prst="rect">
            <a:avLst/>
          </a:prstGeom>
        </p:spPr>
      </p:pic>
      <p:pic>
        <p:nvPicPr>
          <p:cNvPr id="48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0" y="0"/>
            <a:ext cx="9172575" cy="771525"/>
          </a:xfrm>
          <a:prstGeom prst="rect">
            <a:avLst/>
          </a:prstGeom>
        </p:spPr>
      </p:pic>
      <p:pic>
        <p:nvPicPr>
          <p:cNvPr id="49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344025" y="361950"/>
            <a:ext cx="2847975" cy="38100"/>
          </a:xfrm>
          <a:prstGeom prst="rect">
            <a:avLst/>
          </a:prstGeom>
        </p:spPr>
      </p:pic>
      <p:pic>
        <p:nvPicPr>
          <p:cNvPr id="50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0" y="990600"/>
            <a:ext cx="3962400" cy="1676400"/>
          </a:xfrm>
          <a:prstGeom prst="rect">
            <a:avLst/>
          </a:prstGeom>
        </p:spPr>
      </p:pic>
      <p:pic>
        <p:nvPicPr>
          <p:cNvPr id="51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086225" y="990600"/>
            <a:ext cx="4019550" cy="1676400"/>
          </a:xfrm>
          <a:prstGeom prst="rect">
            <a:avLst/>
          </a:prstGeom>
        </p:spPr>
      </p:pic>
      <p:pic>
        <p:nvPicPr>
          <p:cNvPr id="5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229600" y="990600"/>
            <a:ext cx="3962400" cy="1676400"/>
          </a:xfrm>
          <a:prstGeom prst="rect">
            <a:avLst/>
          </a:prstGeom>
        </p:spPr>
      </p:pic>
      <p:pic>
        <p:nvPicPr>
          <p:cNvPr id="53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0" y="5391150"/>
            <a:ext cx="3914775" cy="276225"/>
          </a:xfrm>
          <a:prstGeom prst="rect">
            <a:avLst/>
          </a:prstGeom>
        </p:spPr>
      </p:pic>
      <p:pic>
        <p:nvPicPr>
          <p:cNvPr id="54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133850" y="5391150"/>
            <a:ext cx="3924300" cy="276225"/>
          </a:xfrm>
          <a:prstGeom prst="rect">
            <a:avLst/>
          </a:prstGeom>
        </p:spPr>
      </p:pic>
      <p:pic>
        <p:nvPicPr>
          <p:cNvPr id="55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8277225" y="5391150"/>
            <a:ext cx="3914775" cy="276225"/>
          </a:xfrm>
          <a:prstGeom prst="rect">
            <a:avLst/>
          </a:prstGeom>
        </p:spPr>
      </p:pic>
      <p:sp>
        <p:nvSpPr>
          <p:cNvPr id="56" name="Text 0"/>
          <p:cNvSpPr/>
          <p:nvPr/>
        </p:nvSpPr>
        <p:spPr>
          <a:xfrm>
            <a:off x="0" y="152400"/>
            <a:ext cx="9163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&amp; Structure des Données</a:t>
            </a:r>
            <a:endParaRPr lang="en-US" sz="3400" dirty="0"/>
          </a:p>
        </p:txBody>
      </p:sp>
      <p:sp>
        <p:nvSpPr>
          <p:cNvPr id="57" name="Text 1"/>
          <p:cNvSpPr/>
          <p:nvPr/>
        </p:nvSpPr>
        <p:spPr>
          <a:xfrm>
            <a:off x="1133475" y="1438275"/>
            <a:ext cx="16383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6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AI4I 2020 (UCI)</a:t>
            </a:r>
            <a:endParaRPr lang="en-US" sz="1500" dirty="0"/>
          </a:p>
        </p:txBody>
      </p:sp>
      <p:sp>
        <p:nvSpPr>
          <p:cNvPr id="58" name="Text 2"/>
          <p:cNvSpPr/>
          <p:nvPr/>
        </p:nvSpPr>
        <p:spPr>
          <a:xfrm>
            <a:off x="919162" y="1752600"/>
            <a:ext cx="2066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lignes, 5 capteurs,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types de pannes</a:t>
            </a:r>
            <a:endParaRPr lang="en-US" sz="1200" dirty="0"/>
          </a:p>
        </p:txBody>
      </p:sp>
      <p:sp>
        <p:nvSpPr>
          <p:cNvPr id="59" name="Text 3"/>
          <p:cNvSpPr/>
          <p:nvPr/>
        </p:nvSpPr>
        <p:spPr>
          <a:xfrm>
            <a:off x="5305425" y="1438275"/>
            <a:ext cx="15811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6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CMAPSS</a:t>
            </a:r>
            <a:endParaRPr lang="en-US" sz="1500" dirty="0"/>
          </a:p>
        </p:txBody>
      </p:sp>
      <p:sp>
        <p:nvSpPr>
          <p:cNvPr id="60" name="Text 4"/>
          <p:cNvSpPr/>
          <p:nvPr/>
        </p:nvSpPr>
        <p:spPr>
          <a:xfrm>
            <a:off x="4957763" y="1752600"/>
            <a:ext cx="22764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~20 000 lignes, 21 capteurs,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sous-ensembles</a:t>
            </a:r>
            <a:endParaRPr lang="en-US" sz="1200" dirty="0"/>
          </a:p>
        </p:txBody>
      </p:sp>
      <p:sp>
        <p:nvSpPr>
          <p:cNvPr id="61" name="Text 5"/>
          <p:cNvSpPr/>
          <p:nvPr/>
        </p:nvSpPr>
        <p:spPr>
          <a:xfrm>
            <a:off x="9467850" y="1438275"/>
            <a:ext cx="15430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6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MIMII Dataset</a:t>
            </a:r>
            <a:endParaRPr lang="en-US" sz="1500" dirty="0"/>
          </a:p>
        </p:txBody>
      </p:sp>
      <p:sp>
        <p:nvSpPr>
          <p:cNvPr id="62" name="Text 6"/>
          <p:cNvSpPr/>
          <p:nvPr/>
        </p:nvSpPr>
        <p:spPr>
          <a:xfrm>
            <a:off x="8882063" y="1752600"/>
            <a:ext cx="2714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Sons de machines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(détection d'anomalie acoustique)</a:t>
            </a:r>
            <a:endParaRPr lang="en-US" sz="1200" dirty="0"/>
          </a:p>
        </p:txBody>
      </p:sp>
      <p:pic>
        <p:nvPicPr>
          <p:cNvPr id="63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0" y="2847975"/>
            <a:ext cx="12192000" cy="361950"/>
          </a:xfrm>
          <a:prstGeom prst="rect">
            <a:avLst/>
          </a:prstGeom>
        </p:spPr>
      </p:pic>
      <p:sp>
        <p:nvSpPr>
          <p:cNvPr id="64" name="Text 7"/>
          <p:cNvSpPr/>
          <p:nvPr/>
        </p:nvSpPr>
        <p:spPr>
          <a:xfrm>
            <a:off x="0" y="2857500"/>
            <a:ext cx="1219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AI4I 2020</a:t>
            </a:r>
            <a:endParaRPr lang="en-US" sz="1700" dirty="0"/>
          </a:p>
        </p:txBody>
      </p:sp>
      <p:pic>
        <p:nvPicPr>
          <p:cNvPr id="65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0" y="3333750"/>
            <a:ext cx="3981450" cy="590550"/>
          </a:xfrm>
          <a:prstGeom prst="rect">
            <a:avLst/>
          </a:prstGeom>
        </p:spPr>
      </p:pic>
      <p:sp>
        <p:nvSpPr>
          <p:cNvPr id="66" name="Text 8"/>
          <p:cNvSpPr/>
          <p:nvPr/>
        </p:nvSpPr>
        <p:spPr>
          <a:xfrm>
            <a:off x="0" y="3343275"/>
            <a:ext cx="39686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highlight>
                  <a:srgbClr val="E0C84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Type de produit (L/M/H)</a:t>
            </a:r>
            <a:endParaRPr lang="en-US" sz="1200" dirty="0"/>
          </a:p>
        </p:txBody>
      </p:sp>
      <p:pic>
        <p:nvPicPr>
          <p:cNvPr id="67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4095750" y="3333750"/>
            <a:ext cx="4000500" cy="590550"/>
          </a:xfrm>
          <a:prstGeom prst="rect">
            <a:avLst/>
          </a:prstGeom>
        </p:spPr>
      </p:pic>
      <p:sp>
        <p:nvSpPr>
          <p:cNvPr id="68" name="Text 9"/>
          <p:cNvSpPr/>
          <p:nvPr/>
        </p:nvSpPr>
        <p:spPr>
          <a:xfrm>
            <a:off x="4111526" y="3343275"/>
            <a:ext cx="3968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highlight>
                  <a:srgbClr val="E0C84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Températures (air, process)</a:t>
            </a:r>
            <a:endParaRPr lang="en-US" sz="1200" dirty="0"/>
          </a:p>
        </p:txBody>
      </p:sp>
      <p:pic>
        <p:nvPicPr>
          <p:cNvPr id="69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8210550" y="3333750"/>
            <a:ext cx="3981450" cy="590550"/>
          </a:xfrm>
          <a:prstGeom prst="rect">
            <a:avLst/>
          </a:prstGeom>
        </p:spPr>
      </p:pic>
      <p:sp>
        <p:nvSpPr>
          <p:cNvPr id="70" name="Text 10"/>
          <p:cNvSpPr/>
          <p:nvPr/>
        </p:nvSpPr>
        <p:spPr>
          <a:xfrm>
            <a:off x="8223200" y="3343275"/>
            <a:ext cx="39686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highlight>
                  <a:srgbClr val="E0C84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Vitesse de rotation (RPM)</a:t>
            </a:r>
            <a:endParaRPr lang="en-US" sz="1200" dirty="0"/>
          </a:p>
        </p:txBody>
      </p:sp>
      <p:pic>
        <p:nvPicPr>
          <p:cNvPr id="71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0" y="4048125"/>
            <a:ext cx="3981450" cy="590550"/>
          </a:xfrm>
          <a:prstGeom prst="rect">
            <a:avLst/>
          </a:prstGeom>
        </p:spPr>
      </p:pic>
      <p:sp>
        <p:nvSpPr>
          <p:cNvPr id="72" name="Text 11"/>
          <p:cNvSpPr/>
          <p:nvPr/>
        </p:nvSpPr>
        <p:spPr>
          <a:xfrm>
            <a:off x="0" y="4057650"/>
            <a:ext cx="39686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highlight>
                  <a:srgbClr val="E0C84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Torque</a:t>
            </a:r>
            <a:endParaRPr lang="en-US" sz="1200" dirty="0"/>
          </a:p>
        </p:txBody>
      </p:sp>
      <p:pic>
        <p:nvPicPr>
          <p:cNvPr id="73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4095750" y="4048125"/>
            <a:ext cx="4000500" cy="590550"/>
          </a:xfrm>
          <a:prstGeom prst="rect">
            <a:avLst/>
          </a:prstGeom>
        </p:spPr>
      </p:pic>
      <p:sp>
        <p:nvSpPr>
          <p:cNvPr id="74" name="Text 12"/>
          <p:cNvSpPr/>
          <p:nvPr/>
        </p:nvSpPr>
        <p:spPr>
          <a:xfrm>
            <a:off x="4111526" y="4057650"/>
            <a:ext cx="3968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highlight>
                  <a:srgbClr val="E0C84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Tool wear (usure outil)</a:t>
            </a:r>
            <a:endParaRPr lang="en-US" sz="1200" dirty="0"/>
          </a:p>
        </p:txBody>
      </p:sp>
      <p:pic>
        <p:nvPicPr>
          <p:cNvPr id="75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210550" y="4048125"/>
            <a:ext cx="3981450" cy="590550"/>
          </a:xfrm>
          <a:prstGeom prst="rect">
            <a:avLst/>
          </a:prstGeom>
        </p:spPr>
      </p:pic>
      <p:sp>
        <p:nvSpPr>
          <p:cNvPr id="76" name="Text 13"/>
          <p:cNvSpPr/>
          <p:nvPr/>
        </p:nvSpPr>
        <p:spPr>
          <a:xfrm>
            <a:off x="8223200" y="4057650"/>
            <a:ext cx="39686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highlight>
                  <a:srgbClr val="E0C84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Machine failure (défaillance binaire)</a:t>
            </a:r>
            <a:endParaRPr lang="en-US" sz="1200" dirty="0"/>
          </a:p>
        </p:txBody>
      </p:sp>
      <p:pic>
        <p:nvPicPr>
          <p:cNvPr id="77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0" y="4905375"/>
            <a:ext cx="12192000" cy="361950"/>
          </a:xfrm>
          <a:prstGeom prst="rect">
            <a:avLst/>
          </a:prstGeom>
        </p:spPr>
      </p:pic>
      <p:sp>
        <p:nvSpPr>
          <p:cNvPr id="78" name="Text 14"/>
          <p:cNvSpPr/>
          <p:nvPr/>
        </p:nvSpPr>
        <p:spPr>
          <a:xfrm>
            <a:off x="0" y="4914900"/>
            <a:ext cx="1219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d'Attention</a:t>
            </a:r>
            <a:endParaRPr lang="en-US" sz="1700" dirty="0"/>
          </a:p>
        </p:txBody>
      </p:sp>
      <p:sp>
        <p:nvSpPr>
          <p:cNvPr id="79" name="Text 15"/>
          <p:cNvSpPr/>
          <p:nvPr/>
        </p:nvSpPr>
        <p:spPr>
          <a:xfrm>
            <a:off x="152400" y="5400675"/>
            <a:ext cx="33242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déséquilibrées (3,4% de pannes)</a:t>
            </a:r>
            <a:endParaRPr lang="en-US" sz="1200" dirty="0"/>
          </a:p>
        </p:txBody>
      </p:sp>
      <p:sp>
        <p:nvSpPr>
          <p:cNvPr id="80" name="Text 16"/>
          <p:cNvSpPr/>
          <p:nvPr/>
        </p:nvSpPr>
        <p:spPr>
          <a:xfrm>
            <a:off x="4295775" y="5400675"/>
            <a:ext cx="27336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Bruit capteur et valeurs aberrantes</a:t>
            </a:r>
            <a:endParaRPr lang="en-US" sz="1200" dirty="0"/>
          </a:p>
        </p:txBody>
      </p:sp>
      <p:sp>
        <p:nvSpPr>
          <p:cNvPr id="81" name="Text 17"/>
          <p:cNvSpPr/>
          <p:nvPr/>
        </p:nvSpPr>
        <p:spPr>
          <a:xfrm>
            <a:off x="8439150" y="5400675"/>
            <a:ext cx="23812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Dérive temporelle des signaux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" cy="13811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025" y="0"/>
            <a:ext cx="1381125" cy="13811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75" y="0"/>
            <a:ext cx="1381125" cy="13811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8125" y="0"/>
            <a:ext cx="1381125" cy="13811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0675" y="0"/>
            <a:ext cx="1390650" cy="13811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0" y="0"/>
            <a:ext cx="1381125" cy="13811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5300" y="0"/>
            <a:ext cx="1381125" cy="138112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7850" y="0"/>
            <a:ext cx="1381125" cy="13811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0400" y="0"/>
            <a:ext cx="1371600" cy="13811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1362075"/>
            <a:ext cx="1371600" cy="13906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3025" y="1362075"/>
            <a:ext cx="1381125" cy="13906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5575" y="1362075"/>
            <a:ext cx="1381125" cy="13906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48125" y="1362075"/>
            <a:ext cx="1381125" cy="13906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00675" y="1362075"/>
            <a:ext cx="1390650" cy="13906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0" y="1362075"/>
            <a:ext cx="1381125" cy="13906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15300" y="1362075"/>
            <a:ext cx="1381125" cy="13906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67850" y="1362075"/>
            <a:ext cx="1381125" cy="13906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20400" y="1362075"/>
            <a:ext cx="1371600" cy="139065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2733675"/>
            <a:ext cx="1371600" cy="13906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43025" y="2733675"/>
            <a:ext cx="1381125" cy="139065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95575" y="2733675"/>
            <a:ext cx="1381125" cy="139065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48125" y="2733675"/>
            <a:ext cx="1381125" cy="139065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00675" y="2733675"/>
            <a:ext cx="1390650" cy="139065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762750" y="2733675"/>
            <a:ext cx="1381125" cy="139065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15300" y="2733675"/>
            <a:ext cx="1381125" cy="139065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467850" y="2733675"/>
            <a:ext cx="1381125" cy="139065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820400" y="2733675"/>
            <a:ext cx="1371600" cy="139065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0" y="4105275"/>
            <a:ext cx="1371600" cy="139065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43025" y="4105275"/>
            <a:ext cx="1381125" cy="139065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695575" y="4105275"/>
            <a:ext cx="1381125" cy="139065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48125" y="4105275"/>
            <a:ext cx="1381125" cy="139065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400675" y="4105275"/>
            <a:ext cx="1390650" cy="1390650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762750" y="4105275"/>
            <a:ext cx="1381125" cy="1390650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115300" y="4105275"/>
            <a:ext cx="1381125" cy="1390650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467850" y="4105275"/>
            <a:ext cx="1381125" cy="1390650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820400" y="4105275"/>
            <a:ext cx="1371600" cy="1390650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0" y="5476875"/>
            <a:ext cx="1371600" cy="1381125"/>
          </a:xfrm>
          <a:prstGeom prst="rect">
            <a:avLst/>
          </a:prstGeom>
        </p:spPr>
      </p:pic>
      <p:pic>
        <p:nvPicPr>
          <p:cNvPr id="4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343025" y="5476875"/>
            <a:ext cx="1381125" cy="1381125"/>
          </a:xfrm>
          <a:prstGeom prst="rect">
            <a:avLst/>
          </a:prstGeom>
        </p:spPr>
      </p:pic>
      <p:pic>
        <p:nvPicPr>
          <p:cNvPr id="41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695575" y="5476875"/>
            <a:ext cx="1381125" cy="1381125"/>
          </a:xfrm>
          <a:prstGeom prst="rect">
            <a:avLst/>
          </a:prstGeom>
        </p:spPr>
      </p:pic>
      <p:pic>
        <p:nvPicPr>
          <p:cNvPr id="4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048125" y="5476875"/>
            <a:ext cx="1381125" cy="1381125"/>
          </a:xfrm>
          <a:prstGeom prst="rect">
            <a:avLst/>
          </a:prstGeom>
        </p:spPr>
      </p:pic>
      <p:pic>
        <p:nvPicPr>
          <p:cNvPr id="43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400675" y="5476875"/>
            <a:ext cx="1390650" cy="1381125"/>
          </a:xfrm>
          <a:prstGeom prst="rect">
            <a:avLst/>
          </a:prstGeom>
        </p:spPr>
      </p:pic>
      <p:pic>
        <p:nvPicPr>
          <p:cNvPr id="44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762750" y="5476875"/>
            <a:ext cx="1381125" cy="1381125"/>
          </a:xfrm>
          <a:prstGeom prst="rect">
            <a:avLst/>
          </a:prstGeom>
        </p:spPr>
      </p:pic>
      <p:pic>
        <p:nvPicPr>
          <p:cNvPr id="45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115300" y="5476875"/>
            <a:ext cx="1381125" cy="1381125"/>
          </a:xfrm>
          <a:prstGeom prst="rect">
            <a:avLst/>
          </a:prstGeom>
        </p:spPr>
      </p:pic>
      <p:pic>
        <p:nvPicPr>
          <p:cNvPr id="4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467850" y="5476875"/>
            <a:ext cx="1381125" cy="1381125"/>
          </a:xfrm>
          <a:prstGeom prst="rect">
            <a:avLst/>
          </a:prstGeom>
        </p:spPr>
      </p:pic>
      <p:pic>
        <p:nvPicPr>
          <p:cNvPr id="47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820400" y="5476875"/>
            <a:ext cx="1371600" cy="1381125"/>
          </a:xfrm>
          <a:prstGeom prst="rect">
            <a:avLst/>
          </a:prstGeom>
        </p:spPr>
      </p:pic>
      <p:pic>
        <p:nvPicPr>
          <p:cNvPr id="48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0" y="0"/>
            <a:ext cx="9124950" cy="771525"/>
          </a:xfrm>
          <a:prstGeom prst="rect">
            <a:avLst/>
          </a:prstGeom>
        </p:spPr>
      </p:pic>
      <p:pic>
        <p:nvPicPr>
          <p:cNvPr id="49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296400" y="361950"/>
            <a:ext cx="2895600" cy="38100"/>
          </a:xfrm>
          <a:prstGeom prst="rect">
            <a:avLst/>
          </a:prstGeom>
        </p:spPr>
      </p:pic>
      <p:pic>
        <p:nvPicPr>
          <p:cNvPr id="50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323975" y="2000250"/>
            <a:ext cx="495300" cy="38100"/>
          </a:xfrm>
          <a:prstGeom prst="rect">
            <a:avLst/>
          </a:prstGeom>
        </p:spPr>
      </p:pic>
      <p:pic>
        <p:nvPicPr>
          <p:cNvPr id="51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133725" y="2000250"/>
            <a:ext cx="495300" cy="38100"/>
          </a:xfrm>
          <a:prstGeom prst="rect">
            <a:avLst/>
          </a:prstGeom>
        </p:spPr>
      </p:pic>
      <p:pic>
        <p:nvPicPr>
          <p:cNvPr id="5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943475" y="2000250"/>
            <a:ext cx="495300" cy="38100"/>
          </a:xfrm>
          <a:prstGeom prst="rect">
            <a:avLst/>
          </a:prstGeom>
        </p:spPr>
      </p:pic>
      <p:pic>
        <p:nvPicPr>
          <p:cNvPr id="53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753225" y="2000250"/>
            <a:ext cx="495300" cy="38100"/>
          </a:xfrm>
          <a:prstGeom prst="rect">
            <a:avLst/>
          </a:prstGeom>
        </p:spPr>
      </p:pic>
      <p:pic>
        <p:nvPicPr>
          <p:cNvPr id="54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562975" y="2000250"/>
            <a:ext cx="495300" cy="38100"/>
          </a:xfrm>
          <a:prstGeom prst="rect">
            <a:avLst/>
          </a:prstGeom>
        </p:spPr>
      </p:pic>
      <p:pic>
        <p:nvPicPr>
          <p:cNvPr id="55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0372725" y="2000250"/>
            <a:ext cx="495300" cy="38100"/>
          </a:xfrm>
          <a:prstGeom prst="rect">
            <a:avLst/>
          </a:prstGeom>
        </p:spPr>
      </p:pic>
      <p:pic>
        <p:nvPicPr>
          <p:cNvPr id="56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0" y="2676525"/>
            <a:ext cx="6010275" cy="4181475"/>
          </a:xfrm>
          <a:prstGeom prst="rect">
            <a:avLst/>
          </a:prstGeom>
        </p:spPr>
      </p:pic>
      <p:pic>
        <p:nvPicPr>
          <p:cNvPr id="57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0" y="2781300"/>
            <a:ext cx="495300" cy="495300"/>
          </a:xfrm>
          <a:prstGeom prst="rect">
            <a:avLst/>
          </a:prstGeom>
        </p:spPr>
      </p:pic>
      <p:pic>
        <p:nvPicPr>
          <p:cNvPr id="58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181725" y="2676525"/>
            <a:ext cx="6010275" cy="4181475"/>
          </a:xfrm>
          <a:prstGeom prst="rect">
            <a:avLst/>
          </a:prstGeom>
        </p:spPr>
      </p:pic>
      <p:pic>
        <p:nvPicPr>
          <p:cNvPr id="59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286500" y="2781300"/>
            <a:ext cx="495300" cy="495300"/>
          </a:xfrm>
          <a:prstGeom prst="rect">
            <a:avLst/>
          </a:prstGeom>
        </p:spPr>
      </p:pic>
      <p:sp>
        <p:nvSpPr>
          <p:cNvPr id="60" name="Text 0"/>
          <p:cNvSpPr/>
          <p:nvPr/>
        </p:nvSpPr>
        <p:spPr>
          <a:xfrm>
            <a:off x="0" y="152400"/>
            <a:ext cx="9115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ML &amp; Feature Engineering</a:t>
            </a:r>
            <a:endParaRPr lang="en-US" sz="3400" dirty="0"/>
          </a:p>
        </p:txBody>
      </p:sp>
      <p:pic>
        <p:nvPicPr>
          <p:cNvPr id="61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0" y="1133475"/>
            <a:ext cx="12192000" cy="361950"/>
          </a:xfrm>
          <a:prstGeom prst="rect">
            <a:avLst/>
          </a:prstGeom>
        </p:spPr>
      </p:pic>
      <p:sp>
        <p:nvSpPr>
          <p:cNvPr id="62" name="Text 1"/>
          <p:cNvSpPr/>
          <p:nvPr/>
        </p:nvSpPr>
        <p:spPr>
          <a:xfrm>
            <a:off x="0" y="1143000"/>
            <a:ext cx="1219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Étapes du Pipeline</a:t>
            </a:r>
            <a:endParaRPr lang="en-US" sz="1700" dirty="0"/>
          </a:p>
        </p:txBody>
      </p:sp>
      <p:pic>
        <p:nvPicPr>
          <p:cNvPr id="63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0" y="1571625"/>
            <a:ext cx="1400175" cy="933450"/>
          </a:xfrm>
          <a:prstGeom prst="rect">
            <a:avLst/>
          </a:prstGeom>
        </p:spPr>
      </p:pic>
      <p:sp>
        <p:nvSpPr>
          <p:cNvPr id="64" name="Text 2"/>
          <p:cNvSpPr/>
          <p:nvPr/>
        </p:nvSpPr>
        <p:spPr>
          <a:xfrm>
            <a:off x="0" y="1638300"/>
            <a:ext cx="133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2C3E5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Collecte</a:t>
            </a:r>
            <a:endParaRPr lang="en-US" sz="900" dirty="0"/>
          </a:p>
        </p:txBody>
      </p:sp>
      <p:pic>
        <p:nvPicPr>
          <p:cNvPr id="65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743075" y="1571625"/>
            <a:ext cx="1466850" cy="933450"/>
          </a:xfrm>
          <a:prstGeom prst="rect">
            <a:avLst/>
          </a:prstGeom>
        </p:spPr>
      </p:pic>
      <p:sp>
        <p:nvSpPr>
          <p:cNvPr id="66" name="Text 3"/>
          <p:cNvSpPr/>
          <p:nvPr/>
        </p:nvSpPr>
        <p:spPr>
          <a:xfrm>
            <a:off x="1809750" y="1638300"/>
            <a:ext cx="133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7F8C8D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Nettoyage</a:t>
            </a:r>
            <a:endParaRPr lang="en-US" sz="900" dirty="0"/>
          </a:p>
        </p:txBody>
      </p:sp>
      <p:pic>
        <p:nvPicPr>
          <p:cNvPr id="67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3552825" y="1571625"/>
            <a:ext cx="1466850" cy="933450"/>
          </a:xfrm>
          <a:prstGeom prst="rect">
            <a:avLst/>
          </a:prstGeom>
        </p:spPr>
      </p:pic>
      <p:sp>
        <p:nvSpPr>
          <p:cNvPr id="68" name="Text 4"/>
          <p:cNvSpPr/>
          <p:nvPr/>
        </p:nvSpPr>
        <p:spPr>
          <a:xfrm>
            <a:off x="3619500" y="1638300"/>
            <a:ext cx="133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6EA93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900" dirty="0"/>
          </a:p>
        </p:txBody>
      </p:sp>
      <p:pic>
        <p:nvPicPr>
          <p:cNvPr id="69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5362575" y="1571625"/>
            <a:ext cx="1466850" cy="933450"/>
          </a:xfrm>
          <a:prstGeom prst="rect">
            <a:avLst/>
          </a:prstGeom>
        </p:spPr>
      </p:pic>
      <p:sp>
        <p:nvSpPr>
          <p:cNvPr id="70" name="Text 5"/>
          <p:cNvSpPr/>
          <p:nvPr/>
        </p:nvSpPr>
        <p:spPr>
          <a:xfrm>
            <a:off x="5429250" y="1638300"/>
            <a:ext cx="133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FE7E3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Entraînement</a:t>
            </a:r>
            <a:endParaRPr lang="en-US" sz="900" dirty="0"/>
          </a:p>
        </p:txBody>
      </p:sp>
      <p:pic>
        <p:nvPicPr>
          <p:cNvPr id="71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7172325" y="1571625"/>
            <a:ext cx="1466850" cy="933450"/>
          </a:xfrm>
          <a:prstGeom prst="rect">
            <a:avLst/>
          </a:prstGeom>
        </p:spPr>
      </p:pic>
      <p:sp>
        <p:nvSpPr>
          <p:cNvPr id="72" name="Text 6"/>
          <p:cNvSpPr/>
          <p:nvPr/>
        </p:nvSpPr>
        <p:spPr>
          <a:xfrm>
            <a:off x="7239000" y="1638300"/>
            <a:ext cx="133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CF8DE7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Évaluation</a:t>
            </a:r>
            <a:endParaRPr lang="en-US" sz="900" dirty="0"/>
          </a:p>
        </p:txBody>
      </p:sp>
      <p:pic>
        <p:nvPicPr>
          <p:cNvPr id="73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8982075" y="1571625"/>
            <a:ext cx="1466850" cy="933450"/>
          </a:xfrm>
          <a:prstGeom prst="rect">
            <a:avLst/>
          </a:prstGeom>
        </p:spPr>
      </p:pic>
      <p:sp>
        <p:nvSpPr>
          <p:cNvPr id="74" name="Text 7"/>
          <p:cNvSpPr/>
          <p:nvPr/>
        </p:nvSpPr>
        <p:spPr>
          <a:xfrm>
            <a:off x="9048750" y="1638300"/>
            <a:ext cx="133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E0C84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Explicabilité</a:t>
            </a:r>
            <a:endParaRPr lang="en-US" sz="900" dirty="0"/>
          </a:p>
        </p:txBody>
      </p:sp>
      <p:pic>
        <p:nvPicPr>
          <p:cNvPr id="75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0791825" y="1571625"/>
            <a:ext cx="1400175" cy="933450"/>
          </a:xfrm>
          <a:prstGeom prst="rect">
            <a:avLst/>
          </a:prstGeom>
        </p:spPr>
      </p:pic>
      <p:sp>
        <p:nvSpPr>
          <p:cNvPr id="76" name="Text 8"/>
          <p:cNvSpPr/>
          <p:nvPr/>
        </p:nvSpPr>
        <p:spPr>
          <a:xfrm>
            <a:off x="10858500" y="1638300"/>
            <a:ext cx="133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2C3E5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Déploiement</a:t>
            </a:r>
            <a:endParaRPr lang="en-US" sz="900" dirty="0"/>
          </a:p>
        </p:txBody>
      </p:sp>
      <p:pic>
        <p:nvPicPr>
          <p:cNvPr id="77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23825" y="2905125"/>
            <a:ext cx="247650" cy="247650"/>
          </a:xfrm>
          <a:prstGeom prst="rect">
            <a:avLst/>
          </a:prstGeom>
        </p:spPr>
      </p:pic>
      <p:sp>
        <p:nvSpPr>
          <p:cNvPr id="78" name="Text 9"/>
          <p:cNvSpPr/>
          <p:nvPr/>
        </p:nvSpPr>
        <p:spPr>
          <a:xfrm>
            <a:off x="638175" y="2828925"/>
            <a:ext cx="23241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Statistics</a:t>
            </a:r>
            <a:endParaRPr lang="en-US" sz="1900" dirty="0"/>
          </a:p>
        </p:txBody>
      </p:sp>
      <p:sp>
        <p:nvSpPr>
          <p:cNvPr id="79" name="Text 10"/>
          <p:cNvSpPr/>
          <p:nvPr/>
        </p:nvSpPr>
        <p:spPr>
          <a:xfrm>
            <a:off x="295275" y="3524250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Moyenne mobile (rolling mean)</a:t>
            </a:r>
            <a:endParaRPr lang="en-US" sz="1400" dirty="0"/>
          </a:p>
        </p:txBody>
      </p:sp>
      <p:pic>
        <p:nvPicPr>
          <p:cNvPr id="80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0" y="3533775"/>
            <a:ext cx="190500" cy="209550"/>
          </a:xfrm>
          <a:prstGeom prst="rect">
            <a:avLst/>
          </a:prstGeom>
        </p:spPr>
      </p:pic>
      <p:sp>
        <p:nvSpPr>
          <p:cNvPr id="81" name="Text 11"/>
          <p:cNvSpPr/>
          <p:nvPr/>
        </p:nvSpPr>
        <p:spPr>
          <a:xfrm>
            <a:off x="295275" y="3810000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Écart-type mobile (rolling std)</a:t>
            </a:r>
            <a:endParaRPr lang="en-US" sz="1400" dirty="0"/>
          </a:p>
        </p:txBody>
      </p:sp>
      <p:pic>
        <p:nvPicPr>
          <p:cNvPr id="82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0" y="3819525"/>
            <a:ext cx="190500" cy="209550"/>
          </a:xfrm>
          <a:prstGeom prst="rect">
            <a:avLst/>
          </a:prstGeom>
        </p:spPr>
      </p:pic>
      <p:sp>
        <p:nvSpPr>
          <p:cNvPr id="83" name="Text 12"/>
          <p:cNvSpPr/>
          <p:nvPr/>
        </p:nvSpPr>
        <p:spPr>
          <a:xfrm>
            <a:off x="295275" y="4095750"/>
            <a:ext cx="259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Min/Max sur fenêtre glissante</a:t>
            </a:r>
            <a:endParaRPr lang="en-US" sz="1400" dirty="0"/>
          </a:p>
        </p:txBody>
      </p:sp>
      <p:pic>
        <p:nvPicPr>
          <p:cNvPr id="84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0" y="4105275"/>
            <a:ext cx="190500" cy="209550"/>
          </a:xfrm>
          <a:prstGeom prst="rect">
            <a:avLst/>
          </a:prstGeom>
        </p:spPr>
      </p:pic>
      <p:sp>
        <p:nvSpPr>
          <p:cNvPr id="85" name="Text 13"/>
          <p:cNvSpPr/>
          <p:nvPr/>
        </p:nvSpPr>
        <p:spPr>
          <a:xfrm>
            <a:off x="295275" y="4381500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Pente de tendance (gradient)</a:t>
            </a:r>
            <a:endParaRPr lang="en-US" sz="1400" dirty="0"/>
          </a:p>
        </p:txBody>
      </p:sp>
      <p:pic>
        <p:nvPicPr>
          <p:cNvPr id="86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0" y="4391025"/>
            <a:ext cx="190500" cy="209550"/>
          </a:xfrm>
          <a:prstGeom prst="rect">
            <a:avLst/>
          </a:prstGeom>
        </p:spPr>
      </p:pic>
      <p:pic>
        <p:nvPicPr>
          <p:cNvPr id="87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6410325" y="2905125"/>
            <a:ext cx="247650" cy="247650"/>
          </a:xfrm>
          <a:prstGeom prst="rect">
            <a:avLst/>
          </a:prstGeom>
        </p:spPr>
      </p:pic>
      <p:sp>
        <p:nvSpPr>
          <p:cNvPr id="88" name="Text 14"/>
          <p:cNvSpPr/>
          <p:nvPr/>
        </p:nvSpPr>
        <p:spPr>
          <a:xfrm>
            <a:off x="6924675" y="2828925"/>
            <a:ext cx="29622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Temporelles</a:t>
            </a:r>
            <a:endParaRPr lang="en-US" sz="1900" dirty="0"/>
          </a:p>
        </p:txBody>
      </p:sp>
      <p:sp>
        <p:nvSpPr>
          <p:cNvPr id="89" name="Text 15"/>
          <p:cNvSpPr/>
          <p:nvPr/>
        </p:nvSpPr>
        <p:spPr>
          <a:xfrm>
            <a:off x="6581775" y="3524250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features (valeurs décalées)</a:t>
            </a:r>
            <a:endParaRPr lang="en-US" sz="1400" dirty="0"/>
          </a:p>
        </p:txBody>
      </p:sp>
      <p:pic>
        <p:nvPicPr>
          <p:cNvPr id="90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6286500" y="3533775"/>
            <a:ext cx="190500" cy="209550"/>
          </a:xfrm>
          <a:prstGeom prst="rect">
            <a:avLst/>
          </a:prstGeom>
        </p:spPr>
      </p:pic>
      <p:sp>
        <p:nvSpPr>
          <p:cNvPr id="91" name="Text 16"/>
          <p:cNvSpPr/>
          <p:nvPr/>
        </p:nvSpPr>
        <p:spPr>
          <a:xfrm>
            <a:off x="6581775" y="3810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de dégradation</a:t>
            </a:r>
            <a:endParaRPr lang="en-US" sz="1400" dirty="0"/>
          </a:p>
        </p:txBody>
      </p:sp>
      <p:pic>
        <p:nvPicPr>
          <p:cNvPr id="92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6286500" y="3819525"/>
            <a:ext cx="190500" cy="209550"/>
          </a:xfrm>
          <a:prstGeom prst="rect">
            <a:avLst/>
          </a:prstGeom>
        </p:spPr>
      </p:pic>
      <p:sp>
        <p:nvSpPr>
          <p:cNvPr id="93" name="Text 17"/>
          <p:cNvSpPr/>
          <p:nvPr/>
        </p:nvSpPr>
        <p:spPr>
          <a:xfrm>
            <a:off x="6581775" y="409575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 de cycle de vie</a:t>
            </a:r>
            <a:endParaRPr lang="en-US" sz="1400" dirty="0"/>
          </a:p>
        </p:txBody>
      </p:sp>
      <p:pic>
        <p:nvPicPr>
          <p:cNvPr id="94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6286500" y="4105275"/>
            <a:ext cx="19050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" cy="13811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025" y="0"/>
            <a:ext cx="1381125" cy="13811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75" y="0"/>
            <a:ext cx="1381125" cy="13811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8125" y="0"/>
            <a:ext cx="1381125" cy="13811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0675" y="0"/>
            <a:ext cx="1390650" cy="13811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0" y="0"/>
            <a:ext cx="1381125" cy="13811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5300" y="0"/>
            <a:ext cx="1381125" cy="138112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7850" y="0"/>
            <a:ext cx="1381125" cy="13811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0400" y="0"/>
            <a:ext cx="1371600" cy="13811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1362075"/>
            <a:ext cx="1371600" cy="13906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3025" y="1362075"/>
            <a:ext cx="1381125" cy="13906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5575" y="1362075"/>
            <a:ext cx="1381125" cy="13906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48125" y="1362075"/>
            <a:ext cx="1381125" cy="13906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00675" y="1362075"/>
            <a:ext cx="1390650" cy="13906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0" y="1362075"/>
            <a:ext cx="1381125" cy="13906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15300" y="1362075"/>
            <a:ext cx="1381125" cy="13906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67850" y="1362075"/>
            <a:ext cx="1381125" cy="13906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20400" y="1362075"/>
            <a:ext cx="1371600" cy="139065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2733675"/>
            <a:ext cx="1371600" cy="13906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43025" y="2733675"/>
            <a:ext cx="1381125" cy="139065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95575" y="2733675"/>
            <a:ext cx="1381125" cy="139065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48125" y="2733675"/>
            <a:ext cx="1381125" cy="139065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00675" y="2733675"/>
            <a:ext cx="1390650" cy="139065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762750" y="2733675"/>
            <a:ext cx="1381125" cy="139065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15300" y="2733675"/>
            <a:ext cx="1381125" cy="139065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467850" y="2733675"/>
            <a:ext cx="1381125" cy="139065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820400" y="2733675"/>
            <a:ext cx="1371600" cy="139065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47725" y="2962275"/>
            <a:ext cx="10496550" cy="66675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7725" y="3609975"/>
            <a:ext cx="10496550" cy="66675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571500" y="476250"/>
            <a:ext cx="63436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de Maintenance</a:t>
            </a:r>
            <a:endParaRPr lang="en-US" sz="4500" dirty="0"/>
          </a:p>
        </p:txBody>
      </p:sp>
      <p:pic>
        <p:nvPicPr>
          <p:cNvPr id="33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286625" y="1057275"/>
            <a:ext cx="4343400" cy="38100"/>
          </a:xfrm>
          <a:prstGeom prst="rect">
            <a:avLst/>
          </a:prstGeom>
        </p:spPr>
      </p:pic>
      <p:pic>
        <p:nvPicPr>
          <p:cNvPr id="3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47725" y="1647825"/>
            <a:ext cx="2114550" cy="685800"/>
          </a:xfrm>
          <a:prstGeom prst="rect">
            <a:avLst/>
          </a:prstGeom>
        </p:spPr>
      </p:pic>
      <p:sp>
        <p:nvSpPr>
          <p:cNvPr id="35" name="Text 1"/>
          <p:cNvSpPr/>
          <p:nvPr/>
        </p:nvSpPr>
        <p:spPr>
          <a:xfrm>
            <a:off x="1047750" y="1847850"/>
            <a:ext cx="171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400" dirty="0"/>
          </a:p>
        </p:txBody>
      </p:sp>
      <p:pic>
        <p:nvPicPr>
          <p:cNvPr id="36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943225" y="1647825"/>
            <a:ext cx="3162300" cy="685800"/>
          </a:xfrm>
          <a:prstGeom prst="rect">
            <a:avLst/>
          </a:prstGeom>
        </p:spPr>
      </p:pic>
      <p:sp>
        <p:nvSpPr>
          <p:cNvPr id="37" name="Text 2"/>
          <p:cNvSpPr/>
          <p:nvPr/>
        </p:nvSpPr>
        <p:spPr>
          <a:xfrm>
            <a:off x="3143250" y="1847850"/>
            <a:ext cx="2762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400" dirty="0"/>
          </a:p>
        </p:txBody>
      </p:sp>
      <p:pic>
        <p:nvPicPr>
          <p:cNvPr id="38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086475" y="1647825"/>
            <a:ext cx="2638425" cy="685800"/>
          </a:xfrm>
          <a:prstGeom prst="rect">
            <a:avLst/>
          </a:prstGeom>
        </p:spPr>
      </p:pic>
      <p:sp>
        <p:nvSpPr>
          <p:cNvPr id="39" name="Text 3"/>
          <p:cNvSpPr/>
          <p:nvPr/>
        </p:nvSpPr>
        <p:spPr>
          <a:xfrm>
            <a:off x="6286500" y="1847850"/>
            <a:ext cx="2238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Avantages</a:t>
            </a:r>
            <a:endParaRPr lang="en-US" sz="1400" dirty="0"/>
          </a:p>
        </p:txBody>
      </p:sp>
      <p:pic>
        <p:nvPicPr>
          <p:cNvPr id="40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05850" y="1647825"/>
            <a:ext cx="2638425" cy="685800"/>
          </a:xfrm>
          <a:prstGeom prst="rect">
            <a:avLst/>
          </a:prstGeom>
        </p:spPr>
      </p:pic>
      <p:sp>
        <p:nvSpPr>
          <p:cNvPr id="41" name="Text 4"/>
          <p:cNvSpPr/>
          <p:nvPr/>
        </p:nvSpPr>
        <p:spPr>
          <a:xfrm>
            <a:off x="8905875" y="1847850"/>
            <a:ext cx="2238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Inconvénients</a:t>
            </a:r>
            <a:endParaRPr lang="en-US" sz="1400" dirty="0"/>
          </a:p>
        </p:txBody>
      </p:sp>
      <p:pic>
        <p:nvPicPr>
          <p:cNvPr id="42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47725" y="2314575"/>
            <a:ext cx="2114550" cy="666750"/>
          </a:xfrm>
          <a:prstGeom prst="rect">
            <a:avLst/>
          </a:prstGeom>
        </p:spPr>
      </p:pic>
      <p:sp>
        <p:nvSpPr>
          <p:cNvPr id="43" name="Text 5"/>
          <p:cNvSpPr/>
          <p:nvPr/>
        </p:nvSpPr>
        <p:spPr>
          <a:xfrm>
            <a:off x="1047750" y="251460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Corrective</a:t>
            </a:r>
            <a:endParaRPr lang="en-US" sz="1200" dirty="0"/>
          </a:p>
        </p:txBody>
      </p:sp>
      <p:pic>
        <p:nvPicPr>
          <p:cNvPr id="44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943225" y="2314575"/>
            <a:ext cx="3162300" cy="666750"/>
          </a:xfrm>
          <a:prstGeom prst="rect">
            <a:avLst/>
          </a:prstGeom>
        </p:spPr>
      </p:pic>
      <p:sp>
        <p:nvSpPr>
          <p:cNvPr id="45" name="Text 6"/>
          <p:cNvSpPr/>
          <p:nvPr/>
        </p:nvSpPr>
        <p:spPr>
          <a:xfrm>
            <a:off x="3143250" y="2514600"/>
            <a:ext cx="276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Réparer après panne</a:t>
            </a:r>
            <a:endParaRPr lang="en-US" sz="1200" dirty="0"/>
          </a:p>
        </p:txBody>
      </p:sp>
      <p:pic>
        <p:nvPicPr>
          <p:cNvPr id="46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086475" y="2314575"/>
            <a:ext cx="2638425" cy="666750"/>
          </a:xfrm>
          <a:prstGeom prst="rect">
            <a:avLst/>
          </a:prstGeom>
        </p:spPr>
      </p:pic>
      <p:sp>
        <p:nvSpPr>
          <p:cNvPr id="47" name="Text 7"/>
          <p:cNvSpPr/>
          <p:nvPr/>
        </p:nvSpPr>
        <p:spPr>
          <a:xfrm>
            <a:off x="6286500" y="2514600"/>
            <a:ext cx="223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Zéro coût préventif</a:t>
            </a:r>
            <a:endParaRPr lang="en-US" sz="1200" dirty="0"/>
          </a:p>
        </p:txBody>
      </p:sp>
      <p:pic>
        <p:nvPicPr>
          <p:cNvPr id="48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705850" y="2314575"/>
            <a:ext cx="2638425" cy="666750"/>
          </a:xfrm>
          <a:prstGeom prst="rect">
            <a:avLst/>
          </a:prstGeom>
        </p:spPr>
      </p:pic>
      <p:sp>
        <p:nvSpPr>
          <p:cNvPr id="49" name="Text 8"/>
          <p:cNvSpPr/>
          <p:nvPr/>
        </p:nvSpPr>
        <p:spPr>
          <a:xfrm>
            <a:off x="8905875" y="2514600"/>
            <a:ext cx="223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Arrêts non planifiés</a:t>
            </a:r>
            <a:endParaRPr lang="en-US" sz="1200" dirty="0"/>
          </a:p>
        </p:txBody>
      </p:sp>
      <p:pic>
        <p:nvPicPr>
          <p:cNvPr id="50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47725" y="2962275"/>
            <a:ext cx="2114550" cy="666750"/>
          </a:xfrm>
          <a:prstGeom prst="rect">
            <a:avLst/>
          </a:prstGeom>
        </p:spPr>
      </p:pic>
      <p:sp>
        <p:nvSpPr>
          <p:cNvPr id="51" name="Text 9"/>
          <p:cNvSpPr/>
          <p:nvPr/>
        </p:nvSpPr>
        <p:spPr>
          <a:xfrm>
            <a:off x="1047750" y="316230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Préventive</a:t>
            </a:r>
            <a:endParaRPr lang="en-US" sz="1200" dirty="0"/>
          </a:p>
        </p:txBody>
      </p:sp>
      <p:pic>
        <p:nvPicPr>
          <p:cNvPr id="5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943225" y="2962275"/>
            <a:ext cx="3162300" cy="666750"/>
          </a:xfrm>
          <a:prstGeom prst="rect">
            <a:avLst/>
          </a:prstGeom>
        </p:spPr>
      </p:pic>
      <p:sp>
        <p:nvSpPr>
          <p:cNvPr id="53" name="Text 10"/>
          <p:cNvSpPr/>
          <p:nvPr/>
        </p:nvSpPr>
        <p:spPr>
          <a:xfrm>
            <a:off x="3143250" y="3162300"/>
            <a:ext cx="276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Entretien périodique</a:t>
            </a:r>
            <a:endParaRPr lang="en-US" sz="1200" dirty="0"/>
          </a:p>
        </p:txBody>
      </p:sp>
      <p:pic>
        <p:nvPicPr>
          <p:cNvPr id="54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086475" y="2962275"/>
            <a:ext cx="2638425" cy="666750"/>
          </a:xfrm>
          <a:prstGeom prst="rect">
            <a:avLst/>
          </a:prstGeom>
        </p:spPr>
      </p:pic>
      <p:sp>
        <p:nvSpPr>
          <p:cNvPr id="55" name="Text 11"/>
          <p:cNvSpPr/>
          <p:nvPr/>
        </p:nvSpPr>
        <p:spPr>
          <a:xfrm>
            <a:off x="6286500" y="3162300"/>
            <a:ext cx="223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Planifiable</a:t>
            </a:r>
            <a:endParaRPr lang="en-US" sz="1200" dirty="0"/>
          </a:p>
        </p:txBody>
      </p:sp>
      <p:pic>
        <p:nvPicPr>
          <p:cNvPr id="56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705850" y="2962275"/>
            <a:ext cx="2638425" cy="666750"/>
          </a:xfrm>
          <a:prstGeom prst="rect">
            <a:avLst/>
          </a:prstGeom>
        </p:spPr>
      </p:pic>
      <p:sp>
        <p:nvSpPr>
          <p:cNvPr id="57" name="Text 12"/>
          <p:cNvSpPr/>
          <p:nvPr/>
        </p:nvSpPr>
        <p:spPr>
          <a:xfrm>
            <a:off x="8905875" y="3162300"/>
            <a:ext cx="223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Sur-maintenance possible</a:t>
            </a:r>
            <a:endParaRPr lang="en-US" sz="1200" dirty="0"/>
          </a:p>
        </p:txBody>
      </p:sp>
      <p:pic>
        <p:nvPicPr>
          <p:cNvPr id="58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47725" y="3609975"/>
            <a:ext cx="2114550" cy="666750"/>
          </a:xfrm>
          <a:prstGeom prst="rect">
            <a:avLst/>
          </a:prstGeom>
        </p:spPr>
      </p:pic>
      <p:sp>
        <p:nvSpPr>
          <p:cNvPr id="59" name="Text 13"/>
          <p:cNvSpPr/>
          <p:nvPr/>
        </p:nvSpPr>
        <p:spPr>
          <a:xfrm>
            <a:off x="1047750" y="381000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Prédictive (ML)</a:t>
            </a:r>
            <a:endParaRPr lang="en-US" sz="1200" dirty="0"/>
          </a:p>
        </p:txBody>
      </p:sp>
      <p:pic>
        <p:nvPicPr>
          <p:cNvPr id="60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943225" y="3609975"/>
            <a:ext cx="3162300" cy="666750"/>
          </a:xfrm>
          <a:prstGeom prst="rect">
            <a:avLst/>
          </a:prstGeom>
        </p:spPr>
      </p:pic>
      <p:sp>
        <p:nvSpPr>
          <p:cNvPr id="61" name="Text 14"/>
          <p:cNvSpPr/>
          <p:nvPr/>
        </p:nvSpPr>
        <p:spPr>
          <a:xfrm>
            <a:off x="3143250" y="3810000"/>
            <a:ext cx="276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Prédire avant la panne</a:t>
            </a:r>
            <a:endParaRPr lang="en-US" sz="1200" dirty="0"/>
          </a:p>
        </p:txBody>
      </p:sp>
      <p:pic>
        <p:nvPicPr>
          <p:cNvPr id="62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086475" y="3609975"/>
            <a:ext cx="2638425" cy="666750"/>
          </a:xfrm>
          <a:prstGeom prst="rect">
            <a:avLst/>
          </a:prstGeom>
        </p:spPr>
      </p:pic>
      <p:sp>
        <p:nvSpPr>
          <p:cNvPr id="63" name="Text 15"/>
          <p:cNvSpPr/>
          <p:nvPr/>
        </p:nvSpPr>
        <p:spPr>
          <a:xfrm>
            <a:off x="6286500" y="3810000"/>
            <a:ext cx="223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Optimal, data-driven</a:t>
            </a:r>
            <a:endParaRPr lang="en-US" sz="1200" dirty="0"/>
          </a:p>
        </p:txBody>
      </p:sp>
      <p:pic>
        <p:nvPicPr>
          <p:cNvPr id="64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705850" y="3609975"/>
            <a:ext cx="2638425" cy="666750"/>
          </a:xfrm>
          <a:prstGeom prst="rect">
            <a:avLst/>
          </a:prstGeom>
        </p:spPr>
      </p:pic>
      <p:sp>
        <p:nvSpPr>
          <p:cNvPr id="65" name="Text 16"/>
          <p:cNvSpPr/>
          <p:nvPr/>
        </p:nvSpPr>
        <p:spPr>
          <a:xfrm>
            <a:off x="8905875" y="3810000"/>
            <a:ext cx="223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Nécessite des données</a:t>
            </a:r>
            <a:endParaRPr lang="en-US" sz="1200" dirty="0"/>
          </a:p>
        </p:txBody>
      </p:sp>
      <p:sp>
        <p:nvSpPr>
          <p:cNvPr id="66" name="Text 17"/>
          <p:cNvSpPr/>
          <p:nvPr/>
        </p:nvSpPr>
        <p:spPr>
          <a:xfrm>
            <a:off x="571500" y="6276975"/>
            <a:ext cx="4297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Prédictive par Machine Learning</a:t>
            </a:r>
            <a:endParaRPr lang="en-US" sz="900" dirty="0"/>
          </a:p>
        </p:txBody>
      </p:sp>
      <p:pic>
        <p:nvPicPr>
          <p:cNvPr id="67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1229975" y="6086475"/>
            <a:ext cx="4000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" cy="13811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025" y="0"/>
            <a:ext cx="1381125" cy="13811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75" y="0"/>
            <a:ext cx="1381125" cy="13811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8125" y="0"/>
            <a:ext cx="1381125" cy="13811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0675" y="0"/>
            <a:ext cx="1390650" cy="13811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0" y="0"/>
            <a:ext cx="1381125" cy="13811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5300" y="0"/>
            <a:ext cx="1381125" cy="138112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7850" y="0"/>
            <a:ext cx="1381125" cy="13811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0400" y="0"/>
            <a:ext cx="1371600" cy="13811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1362075"/>
            <a:ext cx="1371600" cy="13906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3025" y="1362075"/>
            <a:ext cx="1381125" cy="13906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5575" y="1362075"/>
            <a:ext cx="1381125" cy="13906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48125" y="1362075"/>
            <a:ext cx="1381125" cy="13906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00675" y="1362075"/>
            <a:ext cx="1390650" cy="13906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0" y="1362075"/>
            <a:ext cx="1381125" cy="13906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15300" y="1362075"/>
            <a:ext cx="1381125" cy="13906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67850" y="1362075"/>
            <a:ext cx="1381125" cy="13906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20400" y="1362075"/>
            <a:ext cx="1371600" cy="139065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7225" y="4238625"/>
            <a:ext cx="10877550" cy="1057275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34575" y="6257925"/>
            <a:ext cx="1162050" cy="5715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571500" y="476250"/>
            <a:ext cx="114014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des Modèles de Régression</a:t>
            </a:r>
            <a:endParaRPr lang="en-US" sz="4500" dirty="0"/>
          </a:p>
        </p:txBody>
      </p:sp>
      <p:pic>
        <p:nvPicPr>
          <p:cNvPr id="2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7725" y="1571625"/>
            <a:ext cx="3686175" cy="619125"/>
          </a:xfrm>
          <a:prstGeom prst="rect">
            <a:avLst/>
          </a:prstGeom>
        </p:spPr>
      </p:pic>
      <p:sp>
        <p:nvSpPr>
          <p:cNvPr id="25" name="Text 1"/>
          <p:cNvSpPr/>
          <p:nvPr/>
        </p:nvSpPr>
        <p:spPr>
          <a:xfrm>
            <a:off x="1085850" y="1752600"/>
            <a:ext cx="32099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Modèle</a:t>
            </a:r>
            <a:endParaRPr lang="en-US" sz="1200" dirty="0"/>
          </a:p>
        </p:txBody>
      </p:sp>
      <p:pic>
        <p:nvPicPr>
          <p:cNvPr id="2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14850" y="1571625"/>
            <a:ext cx="2114550" cy="619125"/>
          </a:xfrm>
          <a:prstGeom prst="rect">
            <a:avLst/>
          </a:prstGeom>
        </p:spPr>
      </p:pic>
      <p:sp>
        <p:nvSpPr>
          <p:cNvPr id="27" name="Text 2"/>
          <p:cNvSpPr/>
          <p:nvPr/>
        </p:nvSpPr>
        <p:spPr>
          <a:xfrm>
            <a:off x="4752975" y="1752600"/>
            <a:ext cx="16383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MAE (cycles)</a:t>
            </a:r>
            <a:endParaRPr lang="en-US" sz="1200" dirty="0"/>
          </a:p>
        </p:txBody>
      </p:sp>
      <p:pic>
        <p:nvPicPr>
          <p:cNvPr id="2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10350" y="1571625"/>
            <a:ext cx="1590675" cy="619125"/>
          </a:xfrm>
          <a:prstGeom prst="rect">
            <a:avLst/>
          </a:prstGeom>
        </p:spPr>
      </p:pic>
      <p:sp>
        <p:nvSpPr>
          <p:cNvPr id="29" name="Text 3"/>
          <p:cNvSpPr/>
          <p:nvPr/>
        </p:nvSpPr>
        <p:spPr>
          <a:xfrm>
            <a:off x="6848475" y="1752600"/>
            <a:ext cx="11144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1200" dirty="0"/>
          </a:p>
        </p:txBody>
      </p:sp>
      <p:pic>
        <p:nvPicPr>
          <p:cNvPr id="3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81975" y="1571625"/>
            <a:ext cx="3162300" cy="619125"/>
          </a:xfrm>
          <a:prstGeom prst="rect">
            <a:avLst/>
          </a:prstGeom>
        </p:spPr>
      </p:pic>
      <p:sp>
        <p:nvSpPr>
          <p:cNvPr id="31" name="Text 4"/>
          <p:cNvSpPr/>
          <p:nvPr/>
        </p:nvSpPr>
        <p:spPr>
          <a:xfrm>
            <a:off x="8420100" y="1752600"/>
            <a:ext cx="26860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Recommandation</a:t>
            </a:r>
            <a:endParaRPr lang="en-US" sz="1200" dirty="0"/>
          </a:p>
        </p:txBody>
      </p:sp>
      <p:pic>
        <p:nvPicPr>
          <p:cNvPr id="32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7725" y="2286000"/>
            <a:ext cx="3686175" cy="619125"/>
          </a:xfrm>
          <a:prstGeom prst="rect">
            <a:avLst/>
          </a:prstGeom>
        </p:spPr>
      </p:pic>
      <p:sp>
        <p:nvSpPr>
          <p:cNvPr id="33" name="Text 5"/>
          <p:cNvSpPr/>
          <p:nvPr/>
        </p:nvSpPr>
        <p:spPr>
          <a:xfrm>
            <a:off x="1085850" y="2447925"/>
            <a:ext cx="32099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Régression Linéaire</a:t>
            </a:r>
            <a:endParaRPr lang="en-US" sz="1200" dirty="0"/>
          </a:p>
        </p:txBody>
      </p:sp>
      <p:pic>
        <p:nvPicPr>
          <p:cNvPr id="34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514850" y="2286000"/>
            <a:ext cx="2114550" cy="619125"/>
          </a:xfrm>
          <a:prstGeom prst="rect">
            <a:avLst/>
          </a:prstGeom>
        </p:spPr>
      </p:pic>
      <p:sp>
        <p:nvSpPr>
          <p:cNvPr id="35" name="Text 6"/>
          <p:cNvSpPr/>
          <p:nvPr/>
        </p:nvSpPr>
        <p:spPr>
          <a:xfrm>
            <a:off x="4752975" y="2447925"/>
            <a:ext cx="16383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~45</a:t>
            </a:r>
            <a:endParaRPr lang="en-US" sz="1200" dirty="0"/>
          </a:p>
        </p:txBody>
      </p:sp>
      <p:pic>
        <p:nvPicPr>
          <p:cNvPr id="36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610350" y="2286000"/>
            <a:ext cx="1590675" cy="619125"/>
          </a:xfrm>
          <a:prstGeom prst="rect">
            <a:avLst/>
          </a:prstGeom>
        </p:spPr>
      </p:pic>
      <p:sp>
        <p:nvSpPr>
          <p:cNvPr id="37" name="Text 7"/>
          <p:cNvSpPr/>
          <p:nvPr/>
        </p:nvSpPr>
        <p:spPr>
          <a:xfrm>
            <a:off x="6848475" y="2447925"/>
            <a:ext cx="11144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0.62</a:t>
            </a:r>
            <a:endParaRPr lang="en-US" sz="1200" dirty="0"/>
          </a:p>
        </p:txBody>
      </p:sp>
      <p:pic>
        <p:nvPicPr>
          <p:cNvPr id="38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81975" y="2286000"/>
            <a:ext cx="3162300" cy="619125"/>
          </a:xfrm>
          <a:prstGeom prst="rect">
            <a:avLst/>
          </a:prstGeom>
        </p:spPr>
      </p:pic>
      <p:sp>
        <p:nvSpPr>
          <p:cNvPr id="39" name="Text 8"/>
          <p:cNvSpPr/>
          <p:nvPr/>
        </p:nvSpPr>
        <p:spPr>
          <a:xfrm>
            <a:off x="8420100" y="2447925"/>
            <a:ext cx="26860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5563"/>
                </a:solidFill>
                <a:highlight>
                  <a:srgbClr val="E5E7E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00" dirty="0"/>
          </a:p>
        </p:txBody>
      </p:sp>
      <p:pic>
        <p:nvPicPr>
          <p:cNvPr id="40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7725" y="3000375"/>
            <a:ext cx="3686175" cy="619125"/>
          </a:xfrm>
          <a:prstGeom prst="rect">
            <a:avLst/>
          </a:prstGeom>
        </p:spPr>
      </p:pic>
      <p:sp>
        <p:nvSpPr>
          <p:cNvPr id="41" name="Text 9"/>
          <p:cNvSpPr/>
          <p:nvPr/>
        </p:nvSpPr>
        <p:spPr>
          <a:xfrm>
            <a:off x="1085850" y="3162300"/>
            <a:ext cx="32099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200" dirty="0"/>
          </a:p>
        </p:txBody>
      </p:sp>
      <p:pic>
        <p:nvPicPr>
          <p:cNvPr id="4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514850" y="3000375"/>
            <a:ext cx="2114550" cy="619125"/>
          </a:xfrm>
          <a:prstGeom prst="rect">
            <a:avLst/>
          </a:prstGeom>
        </p:spPr>
      </p:pic>
      <p:sp>
        <p:nvSpPr>
          <p:cNvPr id="43" name="Text 10"/>
          <p:cNvSpPr/>
          <p:nvPr/>
        </p:nvSpPr>
        <p:spPr>
          <a:xfrm>
            <a:off x="4752975" y="3162300"/>
            <a:ext cx="16383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~18</a:t>
            </a:r>
            <a:endParaRPr lang="en-US" sz="1200" dirty="0"/>
          </a:p>
        </p:txBody>
      </p:sp>
      <p:pic>
        <p:nvPicPr>
          <p:cNvPr id="4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610350" y="3000375"/>
            <a:ext cx="1590675" cy="619125"/>
          </a:xfrm>
          <a:prstGeom prst="rect">
            <a:avLst/>
          </a:prstGeom>
        </p:spPr>
      </p:pic>
      <p:sp>
        <p:nvSpPr>
          <p:cNvPr id="45" name="Text 11"/>
          <p:cNvSpPr/>
          <p:nvPr/>
        </p:nvSpPr>
        <p:spPr>
          <a:xfrm>
            <a:off x="6848475" y="3162300"/>
            <a:ext cx="11144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0.87</a:t>
            </a:r>
            <a:endParaRPr lang="en-US" sz="1200" dirty="0"/>
          </a:p>
        </p:txBody>
      </p:sp>
      <p:pic>
        <p:nvPicPr>
          <p:cNvPr id="46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181975" y="3000375"/>
            <a:ext cx="3162300" cy="619125"/>
          </a:xfrm>
          <a:prstGeom prst="rect">
            <a:avLst/>
          </a:prstGeom>
        </p:spPr>
      </p:pic>
      <p:sp>
        <p:nvSpPr>
          <p:cNvPr id="47" name="Text 12"/>
          <p:cNvSpPr/>
          <p:nvPr/>
        </p:nvSpPr>
        <p:spPr>
          <a:xfrm>
            <a:off x="8420100" y="3162300"/>
            <a:ext cx="26860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  <a:highlight>
                  <a:srgbClr val="DBEA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Bon</a:t>
            </a:r>
            <a:endParaRPr lang="en-US" sz="900" dirty="0"/>
          </a:p>
        </p:txBody>
      </p:sp>
      <p:pic>
        <p:nvPicPr>
          <p:cNvPr id="48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47725" y="3714750"/>
            <a:ext cx="3686175" cy="619125"/>
          </a:xfrm>
          <a:prstGeom prst="rect">
            <a:avLst/>
          </a:prstGeom>
        </p:spPr>
      </p:pic>
      <p:sp>
        <p:nvSpPr>
          <p:cNvPr id="49" name="Text 13"/>
          <p:cNvSpPr/>
          <p:nvPr/>
        </p:nvSpPr>
        <p:spPr>
          <a:xfrm>
            <a:off x="1085850" y="3876675"/>
            <a:ext cx="32099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200" dirty="0"/>
          </a:p>
        </p:txBody>
      </p:sp>
      <p:pic>
        <p:nvPicPr>
          <p:cNvPr id="50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514850" y="3714750"/>
            <a:ext cx="2114550" cy="619125"/>
          </a:xfrm>
          <a:prstGeom prst="rect">
            <a:avLst/>
          </a:prstGeom>
        </p:spPr>
      </p:pic>
      <p:sp>
        <p:nvSpPr>
          <p:cNvPr id="51" name="Text 14"/>
          <p:cNvSpPr/>
          <p:nvPr/>
        </p:nvSpPr>
        <p:spPr>
          <a:xfrm>
            <a:off x="4752975" y="3876675"/>
            <a:ext cx="16383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~14</a:t>
            </a:r>
            <a:endParaRPr lang="en-US" sz="1200" dirty="0"/>
          </a:p>
        </p:txBody>
      </p:sp>
      <p:pic>
        <p:nvPicPr>
          <p:cNvPr id="52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610350" y="3714750"/>
            <a:ext cx="1590675" cy="619125"/>
          </a:xfrm>
          <a:prstGeom prst="rect">
            <a:avLst/>
          </a:prstGeom>
        </p:spPr>
      </p:pic>
      <p:sp>
        <p:nvSpPr>
          <p:cNvPr id="53" name="Text 15"/>
          <p:cNvSpPr/>
          <p:nvPr/>
        </p:nvSpPr>
        <p:spPr>
          <a:xfrm>
            <a:off x="6848475" y="3876675"/>
            <a:ext cx="11144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1200" dirty="0"/>
          </a:p>
        </p:txBody>
      </p:sp>
      <p:pic>
        <p:nvPicPr>
          <p:cNvPr id="54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181975" y="3714750"/>
            <a:ext cx="3162300" cy="619125"/>
          </a:xfrm>
          <a:prstGeom prst="rect">
            <a:avLst/>
          </a:prstGeom>
        </p:spPr>
      </p:pic>
      <p:sp>
        <p:nvSpPr>
          <p:cNvPr id="55" name="Text 16"/>
          <p:cNvSpPr/>
          <p:nvPr/>
        </p:nvSpPr>
        <p:spPr>
          <a:xfrm>
            <a:off x="8420100" y="3876675"/>
            <a:ext cx="26860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  <a:highlight>
                  <a:srgbClr val="D1FAE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Très bon</a:t>
            </a:r>
            <a:endParaRPr lang="en-US" sz="900" dirty="0"/>
          </a:p>
        </p:txBody>
      </p:sp>
      <p:sp>
        <p:nvSpPr>
          <p:cNvPr id="56" name="Text 17"/>
          <p:cNvSpPr/>
          <p:nvPr/>
        </p:nvSpPr>
        <p:spPr>
          <a:xfrm>
            <a:off x="1085850" y="4591050"/>
            <a:ext cx="32099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⭐</a:t>
            </a:r>
            <a:endParaRPr lang="en-US" sz="1200" dirty="0"/>
          </a:p>
        </p:txBody>
      </p:sp>
      <p:sp>
        <p:nvSpPr>
          <p:cNvPr id="57" name="Text 18"/>
          <p:cNvSpPr/>
          <p:nvPr/>
        </p:nvSpPr>
        <p:spPr>
          <a:xfrm>
            <a:off x="4752975" y="4591050"/>
            <a:ext cx="16383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</a:t>
            </a:r>
            <a:endParaRPr lang="en-US" sz="1200" dirty="0"/>
          </a:p>
        </p:txBody>
      </p:sp>
      <p:sp>
        <p:nvSpPr>
          <p:cNvPr id="58" name="Text 19"/>
          <p:cNvSpPr/>
          <p:nvPr/>
        </p:nvSpPr>
        <p:spPr>
          <a:xfrm>
            <a:off x="6848475" y="4591050"/>
            <a:ext cx="11144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</a:t>
            </a:r>
            <a:endParaRPr lang="en-US" sz="1200" dirty="0"/>
          </a:p>
        </p:txBody>
      </p:sp>
      <p:sp>
        <p:nvSpPr>
          <p:cNvPr id="59" name="Text 20"/>
          <p:cNvSpPr/>
          <p:nvPr/>
        </p:nvSpPr>
        <p:spPr>
          <a:xfrm>
            <a:off x="8420100" y="4591050"/>
            <a:ext cx="26860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E7E35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Très recommandé</a:t>
            </a:r>
            <a:endParaRPr lang="en-US" sz="900" dirty="0"/>
          </a:p>
        </p:txBody>
      </p:sp>
      <p:pic>
        <p:nvPicPr>
          <p:cNvPr id="60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47725" y="5124450"/>
            <a:ext cx="3686175" cy="619125"/>
          </a:xfrm>
          <a:prstGeom prst="rect">
            <a:avLst/>
          </a:prstGeom>
        </p:spPr>
      </p:pic>
      <p:sp>
        <p:nvSpPr>
          <p:cNvPr id="61" name="Text 21"/>
          <p:cNvSpPr/>
          <p:nvPr/>
        </p:nvSpPr>
        <p:spPr>
          <a:xfrm>
            <a:off x="1085850" y="5286375"/>
            <a:ext cx="32099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200" dirty="0"/>
          </a:p>
        </p:txBody>
      </p:sp>
      <p:pic>
        <p:nvPicPr>
          <p:cNvPr id="62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514850" y="5124450"/>
            <a:ext cx="2114550" cy="619125"/>
          </a:xfrm>
          <a:prstGeom prst="rect">
            <a:avLst/>
          </a:prstGeom>
        </p:spPr>
      </p:pic>
      <p:sp>
        <p:nvSpPr>
          <p:cNvPr id="63" name="Text 22"/>
          <p:cNvSpPr/>
          <p:nvPr/>
        </p:nvSpPr>
        <p:spPr>
          <a:xfrm>
            <a:off x="4752975" y="5286375"/>
            <a:ext cx="16383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~9</a:t>
            </a:r>
            <a:endParaRPr lang="en-US" sz="1200" dirty="0"/>
          </a:p>
        </p:txBody>
      </p:sp>
      <p:pic>
        <p:nvPicPr>
          <p:cNvPr id="64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610350" y="5124450"/>
            <a:ext cx="1590675" cy="619125"/>
          </a:xfrm>
          <a:prstGeom prst="rect">
            <a:avLst/>
          </a:prstGeom>
        </p:spPr>
      </p:pic>
      <p:sp>
        <p:nvSpPr>
          <p:cNvPr id="65" name="Text 23"/>
          <p:cNvSpPr/>
          <p:nvPr/>
        </p:nvSpPr>
        <p:spPr>
          <a:xfrm>
            <a:off x="6848475" y="5286375"/>
            <a:ext cx="11144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0.96</a:t>
            </a:r>
            <a:endParaRPr lang="en-US" sz="1200" dirty="0"/>
          </a:p>
        </p:txBody>
      </p:sp>
      <p:pic>
        <p:nvPicPr>
          <p:cNvPr id="66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181975" y="5124450"/>
            <a:ext cx="3162300" cy="619125"/>
          </a:xfrm>
          <a:prstGeom prst="rect">
            <a:avLst/>
          </a:prstGeom>
        </p:spPr>
      </p:pic>
      <p:sp>
        <p:nvSpPr>
          <p:cNvPr id="67" name="Text 24"/>
          <p:cNvSpPr/>
          <p:nvPr/>
        </p:nvSpPr>
        <p:spPr>
          <a:xfrm>
            <a:off x="8420100" y="5286375"/>
            <a:ext cx="26860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21A8"/>
                </a:solidFill>
                <a:highlight>
                  <a:srgbClr val="F3E8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Excellent (si séries longues)</a:t>
            </a:r>
            <a:endParaRPr lang="en-US" sz="900" dirty="0"/>
          </a:p>
        </p:txBody>
      </p:sp>
      <p:sp>
        <p:nvSpPr>
          <p:cNvPr id="68" name="Text 25"/>
          <p:cNvSpPr/>
          <p:nvPr/>
        </p:nvSpPr>
        <p:spPr>
          <a:xfrm>
            <a:off x="571500" y="6276975"/>
            <a:ext cx="37224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des Modèles de Régression</a:t>
            </a:r>
            <a:endParaRPr lang="en-US" sz="900" dirty="0"/>
          </a:p>
        </p:txBody>
      </p:sp>
      <p:pic>
        <p:nvPicPr>
          <p:cNvPr id="69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229975" y="6086475"/>
            <a:ext cx="4000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" cy="13811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025" y="0"/>
            <a:ext cx="1381125" cy="13811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75" y="0"/>
            <a:ext cx="1381125" cy="13811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8125" y="0"/>
            <a:ext cx="1381125" cy="13811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0675" y="0"/>
            <a:ext cx="1390650" cy="13811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0" y="0"/>
            <a:ext cx="1381125" cy="13811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5300" y="0"/>
            <a:ext cx="1381125" cy="138112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7850" y="0"/>
            <a:ext cx="1381125" cy="13811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0400" y="0"/>
            <a:ext cx="1371600" cy="13811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1362075"/>
            <a:ext cx="1371600" cy="13906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3025" y="1362075"/>
            <a:ext cx="1381125" cy="13906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5575" y="1362075"/>
            <a:ext cx="1381125" cy="13906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48125" y="1362075"/>
            <a:ext cx="1381125" cy="13906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00675" y="1362075"/>
            <a:ext cx="1390650" cy="13906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0" y="1362075"/>
            <a:ext cx="1381125" cy="13906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15300" y="1362075"/>
            <a:ext cx="1381125" cy="13906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67850" y="1362075"/>
            <a:ext cx="1381125" cy="13906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20400" y="1362075"/>
            <a:ext cx="1371600" cy="139065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2733675"/>
            <a:ext cx="1371600" cy="13906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43025" y="2733675"/>
            <a:ext cx="1381125" cy="139065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95575" y="2733675"/>
            <a:ext cx="1381125" cy="139065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48125" y="2733675"/>
            <a:ext cx="1381125" cy="139065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00675" y="2733675"/>
            <a:ext cx="1390650" cy="139065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762750" y="2733675"/>
            <a:ext cx="1381125" cy="139065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15300" y="2733675"/>
            <a:ext cx="1381125" cy="139065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467850" y="2733675"/>
            <a:ext cx="1381125" cy="139065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820400" y="2733675"/>
            <a:ext cx="1371600" cy="139065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0" y="4105275"/>
            <a:ext cx="1371600" cy="139065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43025" y="4105275"/>
            <a:ext cx="1381125" cy="139065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695575" y="4105275"/>
            <a:ext cx="1381125" cy="139065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48125" y="4105275"/>
            <a:ext cx="1381125" cy="139065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400675" y="4105275"/>
            <a:ext cx="1390650" cy="1390650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762750" y="4105275"/>
            <a:ext cx="1381125" cy="1390650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115300" y="4105275"/>
            <a:ext cx="1381125" cy="1390650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467850" y="4105275"/>
            <a:ext cx="1381125" cy="1390650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820400" y="4105275"/>
            <a:ext cx="1371600" cy="1390650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0" y="5476875"/>
            <a:ext cx="1371600" cy="1381125"/>
          </a:xfrm>
          <a:prstGeom prst="rect">
            <a:avLst/>
          </a:prstGeom>
        </p:spPr>
      </p:pic>
      <p:pic>
        <p:nvPicPr>
          <p:cNvPr id="4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343025" y="5476875"/>
            <a:ext cx="1381125" cy="1381125"/>
          </a:xfrm>
          <a:prstGeom prst="rect">
            <a:avLst/>
          </a:prstGeom>
        </p:spPr>
      </p:pic>
      <p:pic>
        <p:nvPicPr>
          <p:cNvPr id="41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695575" y="5476875"/>
            <a:ext cx="1381125" cy="1381125"/>
          </a:xfrm>
          <a:prstGeom prst="rect">
            <a:avLst/>
          </a:prstGeom>
        </p:spPr>
      </p:pic>
      <p:pic>
        <p:nvPicPr>
          <p:cNvPr id="4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048125" y="5476875"/>
            <a:ext cx="1381125" cy="1381125"/>
          </a:xfrm>
          <a:prstGeom prst="rect">
            <a:avLst/>
          </a:prstGeom>
        </p:spPr>
      </p:pic>
      <p:pic>
        <p:nvPicPr>
          <p:cNvPr id="43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400675" y="5476875"/>
            <a:ext cx="1390650" cy="1381125"/>
          </a:xfrm>
          <a:prstGeom prst="rect">
            <a:avLst/>
          </a:prstGeom>
        </p:spPr>
      </p:pic>
      <p:pic>
        <p:nvPicPr>
          <p:cNvPr id="44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762750" y="5476875"/>
            <a:ext cx="1381125" cy="1381125"/>
          </a:xfrm>
          <a:prstGeom prst="rect">
            <a:avLst/>
          </a:prstGeom>
        </p:spPr>
      </p:pic>
      <p:pic>
        <p:nvPicPr>
          <p:cNvPr id="45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115300" y="5476875"/>
            <a:ext cx="1381125" cy="1381125"/>
          </a:xfrm>
          <a:prstGeom prst="rect">
            <a:avLst/>
          </a:prstGeom>
        </p:spPr>
      </p:pic>
      <p:pic>
        <p:nvPicPr>
          <p:cNvPr id="4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467850" y="5476875"/>
            <a:ext cx="1381125" cy="1381125"/>
          </a:xfrm>
          <a:prstGeom prst="rect">
            <a:avLst/>
          </a:prstGeom>
        </p:spPr>
      </p:pic>
      <p:pic>
        <p:nvPicPr>
          <p:cNvPr id="47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820400" y="5476875"/>
            <a:ext cx="1371600" cy="1381125"/>
          </a:xfrm>
          <a:prstGeom prst="rect">
            <a:avLst/>
          </a:prstGeom>
        </p:spPr>
      </p:pic>
      <p:pic>
        <p:nvPicPr>
          <p:cNvPr id="48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66725" y="1685925"/>
            <a:ext cx="1162050" cy="76200"/>
          </a:xfrm>
          <a:prstGeom prst="rect">
            <a:avLst/>
          </a:prstGeom>
        </p:spPr>
      </p:pic>
      <p:pic>
        <p:nvPicPr>
          <p:cNvPr id="49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09575" y="2066925"/>
            <a:ext cx="2771775" cy="2457450"/>
          </a:xfrm>
          <a:prstGeom prst="rect">
            <a:avLst/>
          </a:prstGeom>
        </p:spPr>
      </p:pic>
      <p:pic>
        <p:nvPicPr>
          <p:cNvPr id="50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495425" y="2362200"/>
            <a:ext cx="600075" cy="590550"/>
          </a:xfrm>
          <a:prstGeom prst="rect">
            <a:avLst/>
          </a:prstGeom>
        </p:spPr>
      </p:pic>
      <p:pic>
        <p:nvPicPr>
          <p:cNvPr id="51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276600" y="2066925"/>
            <a:ext cx="2771775" cy="2457450"/>
          </a:xfrm>
          <a:prstGeom prst="rect">
            <a:avLst/>
          </a:prstGeom>
        </p:spPr>
      </p:pic>
      <p:pic>
        <p:nvPicPr>
          <p:cNvPr id="5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362450" y="2362200"/>
            <a:ext cx="600075" cy="590550"/>
          </a:xfrm>
          <a:prstGeom prst="rect">
            <a:avLst/>
          </a:prstGeom>
        </p:spPr>
      </p:pic>
      <p:pic>
        <p:nvPicPr>
          <p:cNvPr id="53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143625" y="2066925"/>
            <a:ext cx="2771775" cy="2457450"/>
          </a:xfrm>
          <a:prstGeom prst="rect">
            <a:avLst/>
          </a:prstGeom>
        </p:spPr>
      </p:pic>
      <p:pic>
        <p:nvPicPr>
          <p:cNvPr id="54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7229475" y="2362200"/>
            <a:ext cx="600075" cy="590550"/>
          </a:xfrm>
          <a:prstGeom prst="rect">
            <a:avLst/>
          </a:prstGeom>
        </p:spPr>
      </p:pic>
      <p:pic>
        <p:nvPicPr>
          <p:cNvPr id="55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010650" y="2066925"/>
            <a:ext cx="2771775" cy="2457450"/>
          </a:xfrm>
          <a:prstGeom prst="rect">
            <a:avLst/>
          </a:prstGeom>
        </p:spPr>
      </p:pic>
      <p:pic>
        <p:nvPicPr>
          <p:cNvPr id="56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0096500" y="2362200"/>
            <a:ext cx="600075" cy="590550"/>
          </a:xfrm>
          <a:prstGeom prst="rect">
            <a:avLst/>
          </a:prstGeom>
        </p:spPr>
      </p:pic>
      <p:pic>
        <p:nvPicPr>
          <p:cNvPr id="57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466725" y="4791075"/>
            <a:ext cx="11258550" cy="2066925"/>
          </a:xfrm>
          <a:prstGeom prst="rect">
            <a:avLst/>
          </a:prstGeom>
        </p:spPr>
      </p:pic>
      <p:sp>
        <p:nvSpPr>
          <p:cNvPr id="58" name="Text 0"/>
          <p:cNvSpPr/>
          <p:nvPr/>
        </p:nvSpPr>
        <p:spPr>
          <a:xfrm>
            <a:off x="476250" y="476250"/>
            <a:ext cx="11239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 de Performance &amp; Validation</a:t>
            </a:r>
            <a:endParaRPr lang="en-US" sz="3900" dirty="0"/>
          </a:p>
        </p:txBody>
      </p:sp>
      <p:pic>
        <p:nvPicPr>
          <p:cNvPr id="59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666875" y="2533650"/>
            <a:ext cx="257175" cy="247650"/>
          </a:xfrm>
          <a:prstGeom prst="rect">
            <a:avLst/>
          </a:prstGeom>
        </p:spPr>
      </p:pic>
      <p:sp>
        <p:nvSpPr>
          <p:cNvPr id="60" name="Text 1"/>
          <p:cNvSpPr/>
          <p:nvPr/>
        </p:nvSpPr>
        <p:spPr>
          <a:xfrm>
            <a:off x="1604963" y="3095625"/>
            <a:ext cx="381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1200" dirty="0"/>
          </a:p>
        </p:txBody>
      </p:sp>
      <p:sp>
        <p:nvSpPr>
          <p:cNvPr id="61" name="Text 2"/>
          <p:cNvSpPr/>
          <p:nvPr/>
        </p:nvSpPr>
        <p:spPr>
          <a:xfrm>
            <a:off x="876300" y="3390900"/>
            <a:ext cx="18383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15 cycles</a:t>
            </a:r>
            <a:endParaRPr lang="en-US" sz="2500" dirty="0"/>
          </a:p>
        </p:txBody>
      </p:sp>
      <p:sp>
        <p:nvSpPr>
          <p:cNvPr id="62" name="Text 3"/>
          <p:cNvSpPr/>
          <p:nvPr/>
        </p:nvSpPr>
        <p:spPr>
          <a:xfrm>
            <a:off x="1157288" y="3981450"/>
            <a:ext cx="12763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Absolute Error</a:t>
            </a:r>
            <a:endParaRPr lang="en-US" sz="900" dirty="0"/>
          </a:p>
        </p:txBody>
      </p:sp>
      <p:pic>
        <p:nvPicPr>
          <p:cNvPr id="63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4533900" y="2533650"/>
            <a:ext cx="257175" cy="247650"/>
          </a:xfrm>
          <a:prstGeom prst="rect">
            <a:avLst/>
          </a:prstGeom>
        </p:spPr>
      </p:pic>
      <p:sp>
        <p:nvSpPr>
          <p:cNvPr id="64" name="Text 4"/>
          <p:cNvSpPr/>
          <p:nvPr/>
        </p:nvSpPr>
        <p:spPr>
          <a:xfrm>
            <a:off x="4414838" y="3095625"/>
            <a:ext cx="4953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1200" dirty="0"/>
          </a:p>
        </p:txBody>
      </p:sp>
      <p:sp>
        <p:nvSpPr>
          <p:cNvPr id="65" name="Text 5"/>
          <p:cNvSpPr/>
          <p:nvPr/>
        </p:nvSpPr>
        <p:spPr>
          <a:xfrm>
            <a:off x="3705225" y="3390900"/>
            <a:ext cx="19145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20 cycles</a:t>
            </a:r>
            <a:endParaRPr lang="en-US" sz="2500" dirty="0"/>
          </a:p>
        </p:txBody>
      </p:sp>
      <p:sp>
        <p:nvSpPr>
          <p:cNvPr id="66" name="Text 6"/>
          <p:cNvSpPr/>
          <p:nvPr/>
        </p:nvSpPr>
        <p:spPr>
          <a:xfrm>
            <a:off x="3871913" y="3981450"/>
            <a:ext cx="1581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Mean Squared Error</a:t>
            </a:r>
            <a:endParaRPr lang="en-US" sz="900" dirty="0"/>
          </a:p>
        </p:txBody>
      </p:sp>
      <p:pic>
        <p:nvPicPr>
          <p:cNvPr id="67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7429500" y="2533650"/>
            <a:ext cx="200025" cy="247650"/>
          </a:xfrm>
          <a:prstGeom prst="rect">
            <a:avLst/>
          </a:prstGeom>
        </p:spPr>
      </p:pic>
      <p:sp>
        <p:nvSpPr>
          <p:cNvPr id="68" name="Text 7"/>
          <p:cNvSpPr/>
          <p:nvPr/>
        </p:nvSpPr>
        <p:spPr>
          <a:xfrm>
            <a:off x="7439025" y="3095625"/>
            <a:ext cx="1809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1200" dirty="0"/>
          </a:p>
        </p:txBody>
      </p:sp>
      <p:sp>
        <p:nvSpPr>
          <p:cNvPr id="69" name="Text 8"/>
          <p:cNvSpPr/>
          <p:nvPr/>
        </p:nvSpPr>
        <p:spPr>
          <a:xfrm>
            <a:off x="7010400" y="3390900"/>
            <a:ext cx="10382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0.90</a:t>
            </a:r>
            <a:endParaRPr lang="en-US" sz="2500" dirty="0"/>
          </a:p>
        </p:txBody>
      </p:sp>
      <p:sp>
        <p:nvSpPr>
          <p:cNvPr id="70" name="Text 9"/>
          <p:cNvSpPr/>
          <p:nvPr/>
        </p:nvSpPr>
        <p:spPr>
          <a:xfrm>
            <a:off x="6653213" y="3981450"/>
            <a:ext cx="1752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 de détermination</a:t>
            </a:r>
            <a:endParaRPr lang="en-US" sz="900" dirty="0"/>
          </a:p>
        </p:txBody>
      </p:sp>
      <p:pic>
        <p:nvPicPr>
          <p:cNvPr id="71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0267950" y="2533650"/>
            <a:ext cx="257175" cy="247650"/>
          </a:xfrm>
          <a:prstGeom prst="rect">
            <a:avLst/>
          </a:prstGeom>
        </p:spPr>
      </p:pic>
      <p:sp>
        <p:nvSpPr>
          <p:cNvPr id="72" name="Text 10"/>
          <p:cNvSpPr/>
          <p:nvPr/>
        </p:nvSpPr>
        <p:spPr>
          <a:xfrm>
            <a:off x="9882188" y="3095625"/>
            <a:ext cx="10287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NASA</a:t>
            </a:r>
            <a:endParaRPr lang="en-US" sz="1200" dirty="0"/>
          </a:p>
        </p:txBody>
      </p:sp>
      <p:sp>
        <p:nvSpPr>
          <p:cNvPr id="73" name="Text 11"/>
          <p:cNvSpPr/>
          <p:nvPr/>
        </p:nvSpPr>
        <p:spPr>
          <a:xfrm>
            <a:off x="9872663" y="3390900"/>
            <a:ext cx="1047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0.80</a:t>
            </a:r>
            <a:endParaRPr lang="en-US" sz="2500" dirty="0"/>
          </a:p>
        </p:txBody>
      </p:sp>
      <p:sp>
        <p:nvSpPr>
          <p:cNvPr id="74" name="Text 12"/>
          <p:cNvSpPr/>
          <p:nvPr/>
        </p:nvSpPr>
        <p:spPr>
          <a:xfrm>
            <a:off x="9629775" y="3981450"/>
            <a:ext cx="15335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Performance</a:t>
            </a:r>
            <a:endParaRPr lang="en-US" sz="900" dirty="0"/>
          </a:p>
        </p:txBody>
      </p:sp>
      <p:pic>
        <p:nvPicPr>
          <p:cNvPr id="75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47725" y="5133975"/>
            <a:ext cx="476250" cy="476250"/>
          </a:xfrm>
          <a:prstGeom prst="rect">
            <a:avLst/>
          </a:prstGeom>
        </p:spPr>
      </p:pic>
      <p:sp>
        <p:nvSpPr>
          <p:cNvPr id="76" name="Text 13"/>
          <p:cNvSpPr/>
          <p:nvPr/>
        </p:nvSpPr>
        <p:spPr>
          <a:xfrm>
            <a:off x="1543050" y="5105400"/>
            <a:ext cx="9867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Croisée Temporelle</a:t>
            </a:r>
            <a:endParaRPr lang="en-US" sz="1900" dirty="0"/>
          </a:p>
        </p:txBody>
      </p:sp>
      <p:pic>
        <p:nvPicPr>
          <p:cNvPr id="77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533525" y="5705475"/>
            <a:ext cx="209550" cy="219075"/>
          </a:xfrm>
          <a:prstGeom prst="rect">
            <a:avLst/>
          </a:prstGeom>
        </p:spPr>
      </p:pic>
      <p:sp>
        <p:nvSpPr>
          <p:cNvPr id="78" name="Text 14"/>
          <p:cNvSpPr/>
          <p:nvPr/>
        </p:nvSpPr>
        <p:spPr>
          <a:xfrm>
            <a:off x="1847850" y="5657850"/>
            <a:ext cx="3810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 : TimeSeriesSplit (obligatoire)</a:t>
            </a:r>
            <a:endParaRPr lang="en-US" sz="1500" dirty="0"/>
          </a:p>
        </p:txBody>
      </p:sp>
      <p:sp>
        <p:nvSpPr>
          <p:cNvPr id="79" name="Text 15"/>
          <p:cNvSpPr/>
          <p:nvPr/>
        </p:nvSpPr>
        <p:spPr>
          <a:xfrm>
            <a:off x="1543050" y="6048375"/>
            <a:ext cx="47815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Raison : Éviter le </a:t>
            </a:r>
            <a:pPr indent="0" marL="0">
              <a:buNone/>
            </a:pPr>
            <a:r>
              <a:rPr lang="en-US" sz="1200" b="1" dirty="0">
                <a:solidFill>
                  <a:srgbClr val="FE7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leakage</a:t>
            </a:r>
            <a:pPr indent="0" marL="0">
              <a:buNone/>
            </a:pPr>
            <a:r>
              <a:rPr lang="en-US" sz="1200" dirty="0">
                <a:solidFill>
                  <a:srgbClr val="364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respectant l'ordre chronologique des cycles de vie.</a:t>
            </a:r>
            <a:endParaRPr lang="en-US" sz="1200" dirty="0"/>
          </a:p>
        </p:txBody>
      </p:sp>
      <p:pic>
        <p:nvPicPr>
          <p:cNvPr id="80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619875" y="5705475"/>
            <a:ext cx="209550" cy="219075"/>
          </a:xfrm>
          <a:prstGeom prst="rect">
            <a:avLst/>
          </a:prstGeom>
        </p:spPr>
      </p:pic>
      <p:sp>
        <p:nvSpPr>
          <p:cNvPr id="81" name="Text 16"/>
          <p:cNvSpPr/>
          <p:nvPr/>
        </p:nvSpPr>
        <p:spPr>
          <a:xfrm>
            <a:off x="6934200" y="5657850"/>
            <a:ext cx="28956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Interdiction : K-Fold standard</a:t>
            </a:r>
            <a:endParaRPr lang="en-US" sz="1500" dirty="0"/>
          </a:p>
        </p:txBody>
      </p:sp>
      <p:sp>
        <p:nvSpPr>
          <p:cNvPr id="82" name="Text 17"/>
          <p:cNvSpPr/>
          <p:nvPr/>
        </p:nvSpPr>
        <p:spPr>
          <a:xfrm>
            <a:off x="6629400" y="6048375"/>
            <a:ext cx="47815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adapté aux séries temporelles : risque de prédire le passé avec des données du futur.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" cy="13811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025" y="0"/>
            <a:ext cx="1381125" cy="13811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75" y="0"/>
            <a:ext cx="1381125" cy="13811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8125" y="0"/>
            <a:ext cx="1381125" cy="13811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0675" y="0"/>
            <a:ext cx="1390650" cy="13811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0" y="0"/>
            <a:ext cx="1381125" cy="13811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5300" y="0"/>
            <a:ext cx="1381125" cy="138112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7850" y="0"/>
            <a:ext cx="1381125" cy="13811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0400" y="0"/>
            <a:ext cx="1371600" cy="13811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1362075"/>
            <a:ext cx="1371600" cy="13906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3025" y="1362075"/>
            <a:ext cx="1381125" cy="13906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5575" y="1362075"/>
            <a:ext cx="1381125" cy="13906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48125" y="1362075"/>
            <a:ext cx="1381125" cy="13906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00675" y="1362075"/>
            <a:ext cx="1390650" cy="13906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0" y="1362075"/>
            <a:ext cx="1381125" cy="13906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15300" y="1362075"/>
            <a:ext cx="1381125" cy="13906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67850" y="1362075"/>
            <a:ext cx="1381125" cy="13906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20400" y="1362075"/>
            <a:ext cx="1371600" cy="139065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2733675"/>
            <a:ext cx="1371600" cy="13906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43025" y="2733675"/>
            <a:ext cx="1381125" cy="139065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95575" y="2733675"/>
            <a:ext cx="1381125" cy="139065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48125" y="2733675"/>
            <a:ext cx="1381125" cy="139065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00675" y="2733675"/>
            <a:ext cx="1390650" cy="139065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762750" y="2733675"/>
            <a:ext cx="1381125" cy="139065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15300" y="2733675"/>
            <a:ext cx="1381125" cy="139065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467850" y="2733675"/>
            <a:ext cx="1381125" cy="139065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820400" y="2733675"/>
            <a:ext cx="1371600" cy="139065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0" y="4105275"/>
            <a:ext cx="1371600" cy="139065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43025" y="4105275"/>
            <a:ext cx="1381125" cy="139065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695575" y="4105275"/>
            <a:ext cx="1381125" cy="139065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48125" y="4105275"/>
            <a:ext cx="1381125" cy="139065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400675" y="4105275"/>
            <a:ext cx="1390650" cy="1390650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762750" y="4105275"/>
            <a:ext cx="1381125" cy="1390650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115300" y="4105275"/>
            <a:ext cx="1381125" cy="1390650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467850" y="4105275"/>
            <a:ext cx="1381125" cy="1390650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820400" y="4105275"/>
            <a:ext cx="1371600" cy="1390650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0" y="5476875"/>
            <a:ext cx="1371600" cy="1381125"/>
          </a:xfrm>
          <a:prstGeom prst="rect">
            <a:avLst/>
          </a:prstGeom>
        </p:spPr>
      </p:pic>
      <p:pic>
        <p:nvPicPr>
          <p:cNvPr id="4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343025" y="5476875"/>
            <a:ext cx="1381125" cy="1381125"/>
          </a:xfrm>
          <a:prstGeom prst="rect">
            <a:avLst/>
          </a:prstGeom>
        </p:spPr>
      </p:pic>
      <p:pic>
        <p:nvPicPr>
          <p:cNvPr id="41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695575" y="5476875"/>
            <a:ext cx="1381125" cy="1381125"/>
          </a:xfrm>
          <a:prstGeom prst="rect">
            <a:avLst/>
          </a:prstGeom>
        </p:spPr>
      </p:pic>
      <p:pic>
        <p:nvPicPr>
          <p:cNvPr id="4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048125" y="5476875"/>
            <a:ext cx="1381125" cy="1381125"/>
          </a:xfrm>
          <a:prstGeom prst="rect">
            <a:avLst/>
          </a:prstGeom>
        </p:spPr>
      </p:pic>
      <p:pic>
        <p:nvPicPr>
          <p:cNvPr id="43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400675" y="5476875"/>
            <a:ext cx="1390650" cy="1381125"/>
          </a:xfrm>
          <a:prstGeom prst="rect">
            <a:avLst/>
          </a:prstGeom>
        </p:spPr>
      </p:pic>
      <p:pic>
        <p:nvPicPr>
          <p:cNvPr id="44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762750" y="5476875"/>
            <a:ext cx="1381125" cy="1381125"/>
          </a:xfrm>
          <a:prstGeom prst="rect">
            <a:avLst/>
          </a:prstGeom>
        </p:spPr>
      </p:pic>
      <p:pic>
        <p:nvPicPr>
          <p:cNvPr id="45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115300" y="5476875"/>
            <a:ext cx="1381125" cy="1381125"/>
          </a:xfrm>
          <a:prstGeom prst="rect">
            <a:avLst/>
          </a:prstGeom>
        </p:spPr>
      </p:pic>
      <p:pic>
        <p:nvPicPr>
          <p:cNvPr id="4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467850" y="5476875"/>
            <a:ext cx="1381125" cy="1381125"/>
          </a:xfrm>
          <a:prstGeom prst="rect">
            <a:avLst/>
          </a:prstGeom>
        </p:spPr>
      </p:pic>
      <p:pic>
        <p:nvPicPr>
          <p:cNvPr id="47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820400" y="5476875"/>
            <a:ext cx="1371600" cy="1381125"/>
          </a:xfrm>
          <a:prstGeom prst="rect">
            <a:avLst/>
          </a:prstGeom>
        </p:spPr>
      </p:pic>
      <p:pic>
        <p:nvPicPr>
          <p:cNvPr id="48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0" y="0"/>
            <a:ext cx="8220075" cy="1590675"/>
          </a:xfrm>
          <a:prstGeom prst="rect">
            <a:avLst/>
          </a:prstGeom>
        </p:spPr>
      </p:pic>
      <p:pic>
        <p:nvPicPr>
          <p:cNvPr id="49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0" y="1704975"/>
            <a:ext cx="6677025" cy="5153025"/>
          </a:xfrm>
          <a:prstGeom prst="rect">
            <a:avLst/>
          </a:prstGeom>
        </p:spPr>
      </p:pic>
      <p:pic>
        <p:nvPicPr>
          <p:cNvPr id="50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991350" y="3314700"/>
            <a:ext cx="5200650" cy="1638300"/>
          </a:xfrm>
          <a:prstGeom prst="rect">
            <a:avLst/>
          </a:prstGeom>
        </p:spPr>
      </p:pic>
      <p:pic>
        <p:nvPicPr>
          <p:cNvPr id="51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153275" y="3762375"/>
            <a:ext cx="323850" cy="323850"/>
          </a:xfrm>
          <a:prstGeom prst="rect">
            <a:avLst/>
          </a:prstGeom>
        </p:spPr>
      </p:pic>
      <p:pic>
        <p:nvPicPr>
          <p:cNvPr id="5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153275" y="4238625"/>
            <a:ext cx="323850" cy="323850"/>
          </a:xfrm>
          <a:prstGeom prst="rect">
            <a:avLst/>
          </a:prstGeom>
        </p:spPr>
      </p:pic>
      <p:pic>
        <p:nvPicPr>
          <p:cNvPr id="53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153275" y="4543425"/>
            <a:ext cx="323850" cy="323850"/>
          </a:xfrm>
          <a:prstGeom prst="rect">
            <a:avLst/>
          </a:prstGeom>
        </p:spPr>
      </p:pic>
      <p:sp>
        <p:nvSpPr>
          <p:cNvPr id="54" name="Text 0"/>
          <p:cNvSpPr/>
          <p:nvPr/>
        </p:nvSpPr>
        <p:spPr>
          <a:xfrm>
            <a:off x="0" y="76200"/>
            <a:ext cx="809625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SHAP — Features les Plus Influentes</a:t>
            </a:r>
            <a:endParaRPr lang="en-US" sz="4500" dirty="0"/>
          </a:p>
        </p:txBody>
      </p:sp>
      <p:sp>
        <p:nvSpPr>
          <p:cNvPr id="55" name="Text 1"/>
          <p:cNvSpPr/>
          <p:nvPr/>
        </p:nvSpPr>
        <p:spPr>
          <a:xfrm>
            <a:off x="0" y="13716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Features SHAP</a:t>
            </a:r>
            <a:endParaRPr lang="en-US" sz="1700" dirty="0"/>
          </a:p>
        </p:txBody>
      </p:sp>
      <p:pic>
        <p:nvPicPr>
          <p:cNvPr id="56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9525" y="1724025"/>
            <a:ext cx="6191250" cy="3095625"/>
          </a:xfrm>
          <a:prstGeom prst="rect">
            <a:avLst/>
          </a:prstGeom>
        </p:spPr>
      </p:pic>
      <p:sp>
        <p:nvSpPr>
          <p:cNvPr id="57" name="Text 2"/>
          <p:cNvSpPr/>
          <p:nvPr/>
        </p:nvSpPr>
        <p:spPr>
          <a:xfrm>
            <a:off x="7162800" y="3371850"/>
            <a:ext cx="5029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58" name="Text 3"/>
          <p:cNvSpPr/>
          <p:nvPr/>
        </p:nvSpPr>
        <p:spPr>
          <a:xfrm>
            <a:off x="7620000" y="3771900"/>
            <a:ext cx="457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indispensable pour l'adoption par les équipes terrain</a:t>
            </a:r>
            <a:endParaRPr lang="en-US" sz="1400" dirty="0"/>
          </a:p>
        </p:txBody>
      </p:sp>
      <p:sp>
        <p:nvSpPr>
          <p:cNvPr id="59" name="Text 4"/>
          <p:cNvSpPr/>
          <p:nvPr/>
        </p:nvSpPr>
        <p:spPr>
          <a:xfrm>
            <a:off x="7620000" y="4248150"/>
            <a:ext cx="41052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Permet de comprendre les décisions du modèle</a:t>
            </a:r>
            <a:endParaRPr lang="en-US" sz="1400" dirty="0"/>
          </a:p>
        </p:txBody>
      </p:sp>
      <p:sp>
        <p:nvSpPr>
          <p:cNvPr id="60" name="Text 5"/>
          <p:cNvSpPr/>
          <p:nvPr/>
        </p:nvSpPr>
        <p:spPr>
          <a:xfrm>
            <a:off x="7620000" y="4552950"/>
            <a:ext cx="44386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Facilite la confiance et l'acceptation opérationnelle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4305300"/>
            <a:ext cx="9544050" cy="571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" cy="13811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025" y="0"/>
            <a:ext cx="1381125" cy="13811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5575" y="0"/>
            <a:ext cx="1381125" cy="13811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8125" y="0"/>
            <a:ext cx="1381125" cy="13811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0675" y="0"/>
            <a:ext cx="1390650" cy="13811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0" y="0"/>
            <a:ext cx="1381125" cy="138112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5300" y="0"/>
            <a:ext cx="1381125" cy="13811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7850" y="0"/>
            <a:ext cx="1381125" cy="13811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0"/>
            <a:ext cx="1371600" cy="138112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362075"/>
            <a:ext cx="1371600" cy="13906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43025" y="1362075"/>
            <a:ext cx="1381125" cy="13906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95575" y="1362075"/>
            <a:ext cx="1381125" cy="13906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48125" y="1362075"/>
            <a:ext cx="1381125" cy="13906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00675" y="1362075"/>
            <a:ext cx="1390650" cy="13906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2750" y="1362075"/>
            <a:ext cx="1381125" cy="13906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15300" y="1362075"/>
            <a:ext cx="1381125" cy="13906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67850" y="1362075"/>
            <a:ext cx="1381125" cy="139065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20400" y="1362075"/>
            <a:ext cx="1371600" cy="13906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2733675"/>
            <a:ext cx="1371600" cy="139065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43025" y="2733675"/>
            <a:ext cx="1381125" cy="139065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695575" y="2733675"/>
            <a:ext cx="1381125" cy="139065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48125" y="2733675"/>
            <a:ext cx="1381125" cy="139065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400675" y="2733675"/>
            <a:ext cx="1390650" cy="139065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762750" y="2733675"/>
            <a:ext cx="1381125" cy="139065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15300" y="2733675"/>
            <a:ext cx="1381125" cy="139065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467850" y="2733675"/>
            <a:ext cx="1381125" cy="139065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820400" y="2733675"/>
            <a:ext cx="1371600" cy="139065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0" y="4105275"/>
            <a:ext cx="1371600" cy="139065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343025" y="4105275"/>
            <a:ext cx="1381125" cy="139065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695575" y="4105275"/>
            <a:ext cx="1381125" cy="139065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048125" y="4105275"/>
            <a:ext cx="1381125" cy="1390650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400675" y="4105275"/>
            <a:ext cx="1390650" cy="1390650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762750" y="4105275"/>
            <a:ext cx="1381125" cy="1390650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115300" y="4105275"/>
            <a:ext cx="1381125" cy="1390650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467850" y="4105275"/>
            <a:ext cx="1381125" cy="1390650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820400" y="4105275"/>
            <a:ext cx="1371600" cy="1390650"/>
          </a:xfrm>
          <a:prstGeom prst="rect">
            <a:avLst/>
          </a:prstGeom>
        </p:spPr>
      </p:pic>
      <p:pic>
        <p:nvPicPr>
          <p:cNvPr id="4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0" y="5476875"/>
            <a:ext cx="1371600" cy="1381125"/>
          </a:xfrm>
          <a:prstGeom prst="rect">
            <a:avLst/>
          </a:prstGeom>
        </p:spPr>
      </p:pic>
      <p:pic>
        <p:nvPicPr>
          <p:cNvPr id="41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343025" y="5476875"/>
            <a:ext cx="1381125" cy="1381125"/>
          </a:xfrm>
          <a:prstGeom prst="rect">
            <a:avLst/>
          </a:prstGeom>
        </p:spPr>
      </p:pic>
      <p:pic>
        <p:nvPicPr>
          <p:cNvPr id="4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695575" y="5476875"/>
            <a:ext cx="1381125" cy="1381125"/>
          </a:xfrm>
          <a:prstGeom prst="rect">
            <a:avLst/>
          </a:prstGeom>
        </p:spPr>
      </p:pic>
      <p:pic>
        <p:nvPicPr>
          <p:cNvPr id="43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048125" y="5476875"/>
            <a:ext cx="1381125" cy="1381125"/>
          </a:xfrm>
          <a:prstGeom prst="rect">
            <a:avLst/>
          </a:prstGeom>
        </p:spPr>
      </p:pic>
      <p:pic>
        <p:nvPicPr>
          <p:cNvPr id="44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400675" y="5476875"/>
            <a:ext cx="1390650" cy="1381125"/>
          </a:xfrm>
          <a:prstGeom prst="rect">
            <a:avLst/>
          </a:prstGeom>
        </p:spPr>
      </p:pic>
      <p:pic>
        <p:nvPicPr>
          <p:cNvPr id="45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762750" y="5476875"/>
            <a:ext cx="1381125" cy="1381125"/>
          </a:xfrm>
          <a:prstGeom prst="rect">
            <a:avLst/>
          </a:prstGeom>
        </p:spPr>
      </p:pic>
      <p:pic>
        <p:nvPicPr>
          <p:cNvPr id="4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115300" y="5476875"/>
            <a:ext cx="1381125" cy="1381125"/>
          </a:xfrm>
          <a:prstGeom prst="rect">
            <a:avLst/>
          </a:prstGeom>
        </p:spPr>
      </p:pic>
      <p:pic>
        <p:nvPicPr>
          <p:cNvPr id="47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467850" y="5476875"/>
            <a:ext cx="1381125" cy="1381125"/>
          </a:xfrm>
          <a:prstGeom prst="rect">
            <a:avLst/>
          </a:prstGeom>
        </p:spPr>
      </p:pic>
      <p:pic>
        <p:nvPicPr>
          <p:cNvPr id="48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820400" y="5476875"/>
            <a:ext cx="1371600" cy="1381125"/>
          </a:xfrm>
          <a:prstGeom prst="rect">
            <a:avLst/>
          </a:prstGeom>
        </p:spPr>
      </p:pic>
      <p:pic>
        <p:nvPicPr>
          <p:cNvPr id="49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42925" y="3352800"/>
            <a:ext cx="1962150" cy="2057400"/>
          </a:xfrm>
          <a:prstGeom prst="rect">
            <a:avLst/>
          </a:prstGeom>
        </p:spPr>
      </p:pic>
      <p:pic>
        <p:nvPicPr>
          <p:cNvPr id="50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371600" y="4448175"/>
            <a:ext cx="304800" cy="47625"/>
          </a:xfrm>
          <a:prstGeom prst="rect">
            <a:avLst/>
          </a:prstGeom>
        </p:spPr>
      </p:pic>
      <p:pic>
        <p:nvPicPr>
          <p:cNvPr id="51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71725" y="3352800"/>
            <a:ext cx="1962150" cy="2057400"/>
          </a:xfrm>
          <a:prstGeom prst="rect">
            <a:avLst/>
          </a:prstGeom>
        </p:spPr>
      </p:pic>
      <p:pic>
        <p:nvPicPr>
          <p:cNvPr id="5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200400" y="4581525"/>
            <a:ext cx="304800" cy="38100"/>
          </a:xfrm>
          <a:prstGeom prst="rect">
            <a:avLst/>
          </a:prstGeom>
        </p:spPr>
      </p:pic>
      <p:pic>
        <p:nvPicPr>
          <p:cNvPr id="53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4200525" y="3352800"/>
            <a:ext cx="1962150" cy="2057400"/>
          </a:xfrm>
          <a:prstGeom prst="rect">
            <a:avLst/>
          </a:prstGeom>
        </p:spPr>
      </p:pic>
      <p:pic>
        <p:nvPicPr>
          <p:cNvPr id="54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029200" y="4448175"/>
            <a:ext cx="304800" cy="47625"/>
          </a:xfrm>
          <a:prstGeom prst="rect">
            <a:avLst/>
          </a:prstGeom>
        </p:spPr>
      </p:pic>
      <p:pic>
        <p:nvPicPr>
          <p:cNvPr id="55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029325" y="3352800"/>
            <a:ext cx="1962150" cy="2057400"/>
          </a:xfrm>
          <a:prstGeom prst="rect">
            <a:avLst/>
          </a:prstGeom>
        </p:spPr>
      </p:pic>
      <p:pic>
        <p:nvPicPr>
          <p:cNvPr id="56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858000" y="4581525"/>
            <a:ext cx="304800" cy="38100"/>
          </a:xfrm>
          <a:prstGeom prst="rect">
            <a:avLst/>
          </a:prstGeom>
        </p:spPr>
      </p:pic>
      <p:pic>
        <p:nvPicPr>
          <p:cNvPr id="57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858125" y="3352800"/>
            <a:ext cx="1962150" cy="2057400"/>
          </a:xfrm>
          <a:prstGeom prst="rect">
            <a:avLst/>
          </a:prstGeom>
        </p:spPr>
      </p:pic>
      <p:pic>
        <p:nvPicPr>
          <p:cNvPr id="58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686800" y="4581525"/>
            <a:ext cx="304800" cy="38100"/>
          </a:xfrm>
          <a:prstGeom prst="rect">
            <a:avLst/>
          </a:prstGeom>
        </p:spPr>
      </p:pic>
      <p:pic>
        <p:nvPicPr>
          <p:cNvPr id="59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686925" y="3352800"/>
            <a:ext cx="1962150" cy="2057400"/>
          </a:xfrm>
          <a:prstGeom prst="rect">
            <a:avLst/>
          </a:prstGeom>
        </p:spPr>
      </p:pic>
      <p:pic>
        <p:nvPicPr>
          <p:cNvPr id="60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0515600" y="4362450"/>
            <a:ext cx="304800" cy="47625"/>
          </a:xfrm>
          <a:prstGeom prst="rect">
            <a:avLst/>
          </a:prstGeom>
        </p:spPr>
      </p:pic>
      <p:sp>
        <p:nvSpPr>
          <p:cNvPr id="61" name="Text 0"/>
          <p:cNvSpPr/>
          <p:nvPr/>
        </p:nvSpPr>
        <p:spPr>
          <a:xfrm>
            <a:off x="61912" y="476250"/>
            <a:ext cx="120681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&amp; Jalons du Projet</a:t>
            </a:r>
            <a:endParaRPr lang="en-US" sz="5700" dirty="0"/>
          </a:p>
        </p:txBody>
      </p:sp>
      <p:sp>
        <p:nvSpPr>
          <p:cNvPr id="62" name="Text 1"/>
          <p:cNvSpPr/>
          <p:nvPr/>
        </p:nvSpPr>
        <p:spPr>
          <a:xfrm>
            <a:off x="1414463" y="3779044"/>
            <a:ext cx="219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700" dirty="0"/>
          </a:p>
        </p:txBody>
      </p:sp>
      <p:sp>
        <p:nvSpPr>
          <p:cNvPr id="63" name="Text 2"/>
          <p:cNvSpPr/>
          <p:nvPr/>
        </p:nvSpPr>
        <p:spPr>
          <a:xfrm>
            <a:off x="1309688" y="4121944"/>
            <a:ext cx="42862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1500" dirty="0"/>
          </a:p>
        </p:txBody>
      </p:sp>
      <p:sp>
        <p:nvSpPr>
          <p:cNvPr id="64" name="Text 3"/>
          <p:cNvSpPr/>
          <p:nvPr/>
        </p:nvSpPr>
        <p:spPr>
          <a:xfrm>
            <a:off x="1062038" y="4555331"/>
            <a:ext cx="9239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Livrable:</a:t>
            </a:r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EDA</a:t>
            </a:r>
            <a:endParaRPr lang="en-US" sz="900" dirty="0"/>
          </a:p>
        </p:txBody>
      </p:sp>
      <p:sp>
        <p:nvSpPr>
          <p:cNvPr id="65" name="Text 4"/>
          <p:cNvSpPr/>
          <p:nvPr/>
        </p:nvSpPr>
        <p:spPr>
          <a:xfrm>
            <a:off x="3219450" y="3648075"/>
            <a:ext cx="266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700" dirty="0"/>
          </a:p>
        </p:txBody>
      </p:sp>
      <p:sp>
        <p:nvSpPr>
          <p:cNvPr id="66" name="Text 5"/>
          <p:cNvSpPr/>
          <p:nvPr/>
        </p:nvSpPr>
        <p:spPr>
          <a:xfrm>
            <a:off x="2638425" y="3990975"/>
            <a:ext cx="1428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67" name="Text 6"/>
          <p:cNvSpPr/>
          <p:nvPr/>
        </p:nvSpPr>
        <p:spPr>
          <a:xfrm>
            <a:off x="2881313" y="4686300"/>
            <a:ext cx="9429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Livrable:</a:t>
            </a:r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enrichi</a:t>
            </a:r>
            <a:endParaRPr lang="en-US" sz="900" dirty="0"/>
          </a:p>
        </p:txBody>
      </p:sp>
      <p:sp>
        <p:nvSpPr>
          <p:cNvPr id="68" name="Text 7"/>
          <p:cNvSpPr/>
          <p:nvPr/>
        </p:nvSpPr>
        <p:spPr>
          <a:xfrm>
            <a:off x="5043488" y="3779044"/>
            <a:ext cx="276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700" dirty="0"/>
          </a:p>
        </p:txBody>
      </p:sp>
      <p:sp>
        <p:nvSpPr>
          <p:cNvPr id="69" name="Text 8"/>
          <p:cNvSpPr/>
          <p:nvPr/>
        </p:nvSpPr>
        <p:spPr>
          <a:xfrm>
            <a:off x="4591050" y="4121944"/>
            <a:ext cx="118110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ML</a:t>
            </a:r>
            <a:endParaRPr lang="en-US" sz="1500" dirty="0"/>
          </a:p>
        </p:txBody>
      </p:sp>
      <p:sp>
        <p:nvSpPr>
          <p:cNvPr id="70" name="Text 9"/>
          <p:cNvSpPr/>
          <p:nvPr/>
        </p:nvSpPr>
        <p:spPr>
          <a:xfrm>
            <a:off x="4667250" y="4555331"/>
            <a:ext cx="10287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Livrable:</a:t>
            </a:r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baseline</a:t>
            </a:r>
            <a:endParaRPr lang="en-US" sz="900" dirty="0"/>
          </a:p>
        </p:txBody>
      </p:sp>
      <p:sp>
        <p:nvSpPr>
          <p:cNvPr id="71" name="Text 10"/>
          <p:cNvSpPr/>
          <p:nvPr/>
        </p:nvSpPr>
        <p:spPr>
          <a:xfrm>
            <a:off x="6872288" y="3648075"/>
            <a:ext cx="276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700" dirty="0"/>
          </a:p>
        </p:txBody>
      </p:sp>
      <p:sp>
        <p:nvSpPr>
          <p:cNvPr id="72" name="Text 11"/>
          <p:cNvSpPr/>
          <p:nvPr/>
        </p:nvSpPr>
        <p:spPr>
          <a:xfrm>
            <a:off x="6296025" y="3990975"/>
            <a:ext cx="1428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XGBoost</a:t>
            </a:r>
            <a:endParaRPr lang="en-US" sz="1500" dirty="0"/>
          </a:p>
        </p:txBody>
      </p:sp>
      <p:sp>
        <p:nvSpPr>
          <p:cNvPr id="73" name="Text 12"/>
          <p:cNvSpPr/>
          <p:nvPr/>
        </p:nvSpPr>
        <p:spPr>
          <a:xfrm>
            <a:off x="6505575" y="4686300"/>
            <a:ext cx="10096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Livrable:</a:t>
            </a:r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Meilleur modèle</a:t>
            </a:r>
            <a:endParaRPr lang="en-US" sz="900" dirty="0"/>
          </a:p>
        </p:txBody>
      </p:sp>
      <p:sp>
        <p:nvSpPr>
          <p:cNvPr id="74" name="Text 13"/>
          <p:cNvSpPr/>
          <p:nvPr/>
        </p:nvSpPr>
        <p:spPr>
          <a:xfrm>
            <a:off x="8701088" y="3648075"/>
            <a:ext cx="276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1700" dirty="0"/>
          </a:p>
        </p:txBody>
      </p:sp>
      <p:sp>
        <p:nvSpPr>
          <p:cNvPr id="75" name="Text 14"/>
          <p:cNvSpPr/>
          <p:nvPr/>
        </p:nvSpPr>
        <p:spPr>
          <a:xfrm>
            <a:off x="8124825" y="3990975"/>
            <a:ext cx="1428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Explicabilité SHAP</a:t>
            </a:r>
            <a:endParaRPr lang="en-US" sz="1500" dirty="0"/>
          </a:p>
        </p:txBody>
      </p:sp>
      <p:sp>
        <p:nvSpPr>
          <p:cNvPr id="76" name="Text 15"/>
          <p:cNvSpPr/>
          <p:nvPr/>
        </p:nvSpPr>
        <p:spPr>
          <a:xfrm>
            <a:off x="8305800" y="4686300"/>
            <a:ext cx="10668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Livrable:</a:t>
            </a:r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SHAP</a:t>
            </a:r>
            <a:endParaRPr lang="en-US" sz="900" dirty="0"/>
          </a:p>
        </p:txBody>
      </p:sp>
      <p:sp>
        <p:nvSpPr>
          <p:cNvPr id="77" name="Text 16"/>
          <p:cNvSpPr/>
          <p:nvPr/>
        </p:nvSpPr>
        <p:spPr>
          <a:xfrm>
            <a:off x="10529888" y="3695700"/>
            <a:ext cx="276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</a:t>
            </a:r>
            <a:endParaRPr lang="en-US" sz="1700" dirty="0"/>
          </a:p>
        </p:txBody>
      </p:sp>
      <p:sp>
        <p:nvSpPr>
          <p:cNvPr id="78" name="Text 17"/>
          <p:cNvSpPr/>
          <p:nvPr/>
        </p:nvSpPr>
        <p:spPr>
          <a:xfrm>
            <a:off x="10048875" y="4038600"/>
            <a:ext cx="123825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</a:t>
            </a:r>
            <a:endParaRPr lang="en-US" sz="1500" dirty="0"/>
          </a:p>
        </p:txBody>
      </p:sp>
      <p:sp>
        <p:nvSpPr>
          <p:cNvPr id="79" name="Text 18"/>
          <p:cNvSpPr/>
          <p:nvPr/>
        </p:nvSpPr>
        <p:spPr>
          <a:xfrm>
            <a:off x="9953625" y="4471988"/>
            <a:ext cx="14287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Livrable:</a:t>
            </a:r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prod (FastAPI + Streamlit)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" cy="11525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0"/>
            <a:ext cx="1047750" cy="11525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9300" y="0"/>
            <a:ext cx="1038225" cy="11525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8950" y="0"/>
            <a:ext cx="1047750" cy="11525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8125" y="0"/>
            <a:ext cx="1047750" cy="11525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7300" y="0"/>
            <a:ext cx="1038225" cy="11525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6950" y="0"/>
            <a:ext cx="1047750" cy="115252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6125" y="0"/>
            <a:ext cx="1047750" cy="11525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5300" y="0"/>
            <a:ext cx="1038225" cy="11525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24950" y="0"/>
            <a:ext cx="1047750" cy="115252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44125" y="0"/>
            <a:ext cx="1047750" cy="115252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63300" y="0"/>
            <a:ext cx="1028700" cy="115252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133475"/>
            <a:ext cx="1028700" cy="11620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0125" y="1133475"/>
            <a:ext cx="1047750" cy="11620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19300" y="1133475"/>
            <a:ext cx="1038225" cy="11620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28950" y="1133475"/>
            <a:ext cx="1047750" cy="11620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48125" y="1133475"/>
            <a:ext cx="1047750" cy="11620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67300" y="1133475"/>
            <a:ext cx="1038225" cy="116205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76950" y="1133475"/>
            <a:ext cx="1047750" cy="11620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96125" y="1133475"/>
            <a:ext cx="1047750" cy="116205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15300" y="1133475"/>
            <a:ext cx="1038225" cy="116205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24950" y="1133475"/>
            <a:ext cx="1047750" cy="116205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44125" y="1133475"/>
            <a:ext cx="1047750" cy="116205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163300" y="1133475"/>
            <a:ext cx="1028700" cy="116205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7725" y="1228725"/>
            <a:ext cx="10496550" cy="440055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800600" y="1181100"/>
            <a:ext cx="2590800" cy="14859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943100" y="2705100"/>
            <a:ext cx="2590800" cy="14859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658100" y="2705100"/>
            <a:ext cx="2590800" cy="14859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943100" y="4229100"/>
            <a:ext cx="2590800" cy="14859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800600" y="4229100"/>
            <a:ext cx="2590800" cy="148590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705725" y="4276725"/>
            <a:ext cx="2495550" cy="135255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371725" y="5705475"/>
            <a:ext cx="7448550" cy="428625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154186" y="228600"/>
            <a:ext cx="118834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de Production</a:t>
            </a:r>
            <a:endParaRPr lang="en-US" sz="5100" dirty="0"/>
          </a:p>
        </p:txBody>
      </p:sp>
      <p:pic>
        <p:nvPicPr>
          <p:cNvPr id="36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934075" y="1466850"/>
            <a:ext cx="323850" cy="323850"/>
          </a:xfrm>
          <a:prstGeom prst="rect">
            <a:avLst/>
          </a:prstGeom>
        </p:spPr>
      </p:pic>
      <p:sp>
        <p:nvSpPr>
          <p:cNvPr id="37" name="Text 1"/>
          <p:cNvSpPr/>
          <p:nvPr/>
        </p:nvSpPr>
        <p:spPr>
          <a:xfrm>
            <a:off x="5529263" y="1857375"/>
            <a:ext cx="11334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Capteurs IoT</a:t>
            </a:r>
            <a:endParaRPr lang="en-US" sz="1400" dirty="0"/>
          </a:p>
        </p:txBody>
      </p:sp>
      <p:sp>
        <p:nvSpPr>
          <p:cNvPr id="38" name="Text 2"/>
          <p:cNvSpPr/>
          <p:nvPr/>
        </p:nvSpPr>
        <p:spPr>
          <a:xfrm>
            <a:off x="5372100" y="2133600"/>
            <a:ext cx="1447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de données brutes</a:t>
            </a:r>
            <a:endParaRPr lang="en-US" sz="900" dirty="0"/>
          </a:p>
        </p:txBody>
      </p:sp>
      <p:pic>
        <p:nvPicPr>
          <p:cNvPr id="39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076575" y="2990850"/>
            <a:ext cx="323850" cy="323850"/>
          </a:xfrm>
          <a:prstGeom prst="rect">
            <a:avLst/>
          </a:prstGeom>
        </p:spPr>
      </p:pic>
      <p:sp>
        <p:nvSpPr>
          <p:cNvPr id="40" name="Text 3"/>
          <p:cNvSpPr/>
          <p:nvPr/>
        </p:nvSpPr>
        <p:spPr>
          <a:xfrm>
            <a:off x="2357438" y="3381375"/>
            <a:ext cx="17621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(FastAPI)</a:t>
            </a:r>
            <a:endParaRPr lang="en-US" sz="1400" dirty="0"/>
          </a:p>
        </p:txBody>
      </p:sp>
      <p:sp>
        <p:nvSpPr>
          <p:cNvPr id="41" name="Text 4"/>
          <p:cNvSpPr/>
          <p:nvPr/>
        </p:nvSpPr>
        <p:spPr>
          <a:xfrm>
            <a:off x="2357438" y="3657600"/>
            <a:ext cx="1762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/predict temps réel</a:t>
            </a:r>
            <a:endParaRPr lang="en-US" sz="900" dirty="0"/>
          </a:p>
        </p:txBody>
      </p:sp>
      <p:pic>
        <p:nvPicPr>
          <p:cNvPr id="42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791575" y="2990850"/>
            <a:ext cx="323850" cy="323850"/>
          </a:xfrm>
          <a:prstGeom prst="rect">
            <a:avLst/>
          </a:prstGeom>
        </p:spPr>
      </p:pic>
      <p:sp>
        <p:nvSpPr>
          <p:cNvPr id="43" name="Text 5"/>
          <p:cNvSpPr/>
          <p:nvPr/>
        </p:nvSpPr>
        <p:spPr>
          <a:xfrm>
            <a:off x="8224837" y="3381375"/>
            <a:ext cx="14573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XGBoost</a:t>
            </a:r>
            <a:endParaRPr lang="en-US" sz="1400" dirty="0"/>
          </a:p>
        </p:txBody>
      </p:sp>
      <p:sp>
        <p:nvSpPr>
          <p:cNvPr id="44" name="Text 6"/>
          <p:cNvSpPr/>
          <p:nvPr/>
        </p:nvSpPr>
        <p:spPr>
          <a:xfrm>
            <a:off x="8210550" y="3657600"/>
            <a:ext cx="1485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Inférence &amp; Calcul RUL</a:t>
            </a:r>
            <a:endParaRPr lang="en-US" sz="900" dirty="0"/>
          </a:p>
        </p:txBody>
      </p:sp>
      <p:pic>
        <p:nvPicPr>
          <p:cNvPr id="45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076575" y="4514850"/>
            <a:ext cx="323850" cy="323850"/>
          </a:xfrm>
          <a:prstGeom prst="rect">
            <a:avLst/>
          </a:prstGeom>
        </p:spPr>
      </p:pic>
      <p:sp>
        <p:nvSpPr>
          <p:cNvPr id="46" name="Text 7"/>
          <p:cNvSpPr/>
          <p:nvPr/>
        </p:nvSpPr>
        <p:spPr>
          <a:xfrm>
            <a:off x="2343150" y="4905375"/>
            <a:ext cx="17907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Streamlit</a:t>
            </a:r>
            <a:endParaRPr lang="en-US" sz="1400" dirty="0"/>
          </a:p>
        </p:txBody>
      </p:sp>
      <p:sp>
        <p:nvSpPr>
          <p:cNvPr id="47" name="Text 8"/>
          <p:cNvSpPr/>
          <p:nvPr/>
        </p:nvSpPr>
        <p:spPr>
          <a:xfrm>
            <a:off x="2490788" y="5181600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 temps réel</a:t>
            </a:r>
            <a:endParaRPr lang="en-US" sz="900" dirty="0"/>
          </a:p>
        </p:txBody>
      </p:sp>
      <p:pic>
        <p:nvPicPr>
          <p:cNvPr id="48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953125" y="4514850"/>
            <a:ext cx="285750" cy="323850"/>
          </a:xfrm>
          <a:prstGeom prst="rect">
            <a:avLst/>
          </a:prstGeom>
        </p:spPr>
      </p:pic>
      <p:sp>
        <p:nvSpPr>
          <p:cNvPr id="49" name="Text 9"/>
          <p:cNvSpPr/>
          <p:nvPr/>
        </p:nvSpPr>
        <p:spPr>
          <a:xfrm>
            <a:off x="5314950" y="4905375"/>
            <a:ext cx="1562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d'Alertes</a:t>
            </a:r>
            <a:endParaRPr lang="en-US" sz="1400" dirty="0"/>
          </a:p>
        </p:txBody>
      </p:sp>
      <p:sp>
        <p:nvSpPr>
          <p:cNvPr id="50" name="Text 10"/>
          <p:cNvSpPr/>
          <p:nvPr/>
        </p:nvSpPr>
        <p:spPr>
          <a:xfrm>
            <a:off x="5319713" y="5181600"/>
            <a:ext cx="15525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Email/SMS (RUL &lt; seuil)</a:t>
            </a:r>
            <a:endParaRPr lang="en-US" sz="900" dirty="0"/>
          </a:p>
        </p:txBody>
      </p:sp>
      <p:pic>
        <p:nvPicPr>
          <p:cNvPr id="51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791575" y="4514850"/>
            <a:ext cx="323850" cy="323850"/>
          </a:xfrm>
          <a:prstGeom prst="rect">
            <a:avLst/>
          </a:prstGeom>
        </p:spPr>
      </p:pic>
      <p:sp>
        <p:nvSpPr>
          <p:cNvPr id="52" name="Text 11"/>
          <p:cNvSpPr/>
          <p:nvPr/>
        </p:nvSpPr>
        <p:spPr>
          <a:xfrm>
            <a:off x="8120063" y="4905375"/>
            <a:ext cx="16668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Retraining</a:t>
            </a:r>
            <a:endParaRPr lang="en-US" sz="1400" dirty="0"/>
          </a:p>
        </p:txBody>
      </p:sp>
      <p:sp>
        <p:nvSpPr>
          <p:cNvPr id="53" name="Text 12"/>
          <p:cNvSpPr/>
          <p:nvPr/>
        </p:nvSpPr>
        <p:spPr>
          <a:xfrm>
            <a:off x="8267700" y="5181600"/>
            <a:ext cx="1371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à jour mensuelle</a:t>
            </a:r>
            <a:endParaRPr lang="en-US" sz="900" dirty="0"/>
          </a:p>
        </p:txBody>
      </p:sp>
      <p:sp>
        <p:nvSpPr>
          <p:cNvPr id="54" name="Text 13"/>
          <p:cNvSpPr/>
          <p:nvPr/>
        </p:nvSpPr>
        <p:spPr>
          <a:xfrm>
            <a:off x="2686050" y="5791200"/>
            <a:ext cx="4953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Flux:</a:t>
            </a:r>
            <a:endParaRPr lang="en-US" sz="1200" dirty="0"/>
          </a:p>
        </p:txBody>
      </p:sp>
      <p:sp>
        <p:nvSpPr>
          <p:cNvPr id="55" name="Text 14"/>
          <p:cNvSpPr/>
          <p:nvPr/>
        </p:nvSpPr>
        <p:spPr>
          <a:xfrm>
            <a:off x="3333750" y="5791200"/>
            <a:ext cx="10287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Capteurs IoT</a:t>
            </a:r>
            <a:endParaRPr lang="en-US" sz="1200" dirty="0"/>
          </a:p>
        </p:txBody>
      </p:sp>
      <p:pic>
        <p:nvPicPr>
          <p:cNvPr id="56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505325" y="5829300"/>
            <a:ext cx="114300" cy="180975"/>
          </a:xfrm>
          <a:prstGeom prst="rect">
            <a:avLst/>
          </a:prstGeom>
        </p:spPr>
      </p:pic>
      <p:sp>
        <p:nvSpPr>
          <p:cNvPr id="57" name="Text 15"/>
          <p:cNvSpPr/>
          <p:nvPr/>
        </p:nvSpPr>
        <p:spPr>
          <a:xfrm>
            <a:off x="4762500" y="5791200"/>
            <a:ext cx="1019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FastAPI</a:t>
            </a:r>
            <a:endParaRPr lang="en-US" sz="1200" dirty="0"/>
          </a:p>
        </p:txBody>
      </p:sp>
      <p:pic>
        <p:nvPicPr>
          <p:cNvPr id="58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924550" y="5829300"/>
            <a:ext cx="114300" cy="180975"/>
          </a:xfrm>
          <a:prstGeom prst="rect">
            <a:avLst/>
          </a:prstGeom>
        </p:spPr>
      </p:pic>
      <p:sp>
        <p:nvSpPr>
          <p:cNvPr id="59" name="Text 16"/>
          <p:cNvSpPr/>
          <p:nvPr/>
        </p:nvSpPr>
        <p:spPr>
          <a:xfrm>
            <a:off x="6181725" y="5791200"/>
            <a:ext cx="13239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XGBoost</a:t>
            </a:r>
            <a:endParaRPr lang="en-US" sz="1200" dirty="0"/>
          </a:p>
        </p:txBody>
      </p:sp>
      <p:pic>
        <p:nvPicPr>
          <p:cNvPr id="60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648575" y="5829300"/>
            <a:ext cx="114300" cy="180975"/>
          </a:xfrm>
          <a:prstGeom prst="rect">
            <a:avLst/>
          </a:prstGeom>
        </p:spPr>
      </p:pic>
      <p:sp>
        <p:nvSpPr>
          <p:cNvPr id="61" name="Text 17"/>
          <p:cNvSpPr/>
          <p:nvPr/>
        </p:nvSpPr>
        <p:spPr>
          <a:xfrm>
            <a:off x="7905750" y="5791200"/>
            <a:ext cx="1600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+ Alertes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3975" y="1057275"/>
            <a:ext cx="1924050" cy="571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1971675"/>
            <a:ext cx="323850" cy="3238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2428875"/>
            <a:ext cx="323850" cy="3238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75" y="2886075"/>
            <a:ext cx="323850" cy="3238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" y="3343275"/>
            <a:ext cx="323850" cy="3238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975" y="3800475"/>
            <a:ext cx="323850" cy="3238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9350" y="1971675"/>
            <a:ext cx="323850" cy="3238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29350" y="2562225"/>
            <a:ext cx="323850" cy="3238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29350" y="3019425"/>
            <a:ext cx="323850" cy="3238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29350" y="3476625"/>
            <a:ext cx="323850" cy="32385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571500" y="381000"/>
            <a:ext cx="1104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&amp; Prochaines Étapes</a:t>
            </a:r>
            <a:endParaRPr lang="en-US" sz="3900" dirty="0"/>
          </a:p>
        </p:txBody>
      </p:sp>
      <p:sp>
        <p:nvSpPr>
          <p:cNvPr id="17" name="Text 1"/>
          <p:cNvSpPr/>
          <p:nvPr/>
        </p:nvSpPr>
        <p:spPr>
          <a:xfrm>
            <a:off x="857250" y="1514475"/>
            <a:ext cx="13144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Clés</a:t>
            </a:r>
            <a:endParaRPr lang="en-US" sz="1700" dirty="0"/>
          </a:p>
        </p:txBody>
      </p:sp>
      <p:pic>
        <p:nvPicPr>
          <p:cNvPr id="1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1975" y="1533525"/>
            <a:ext cx="190500" cy="247650"/>
          </a:xfrm>
          <a:prstGeom prst="rect">
            <a:avLst/>
          </a:prstGeom>
        </p:spPr>
      </p:pic>
      <p:pic>
        <p:nvPicPr>
          <p:cNvPr id="1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" y="2047875"/>
            <a:ext cx="152400" cy="171450"/>
          </a:xfrm>
          <a:prstGeom prst="rect">
            <a:avLst/>
          </a:prstGeom>
        </p:spPr>
      </p:pic>
      <p:sp>
        <p:nvSpPr>
          <p:cNvPr id="20" name="Text 2"/>
          <p:cNvSpPr/>
          <p:nvPr/>
        </p:nvSpPr>
        <p:spPr>
          <a:xfrm>
            <a:off x="1028700" y="1943100"/>
            <a:ext cx="48863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= composante la plus déterminante</a:t>
            </a:r>
            <a:endParaRPr lang="en-US" sz="1400" dirty="0"/>
          </a:p>
        </p:txBody>
      </p:sp>
      <p:pic>
        <p:nvPicPr>
          <p:cNvPr id="2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" y="2505075"/>
            <a:ext cx="152400" cy="171450"/>
          </a:xfrm>
          <a:prstGeom prst="rect">
            <a:avLst/>
          </a:prstGeom>
        </p:spPr>
      </p:pic>
      <p:sp>
        <p:nvSpPr>
          <p:cNvPr id="22" name="Text 3"/>
          <p:cNvSpPr/>
          <p:nvPr/>
        </p:nvSpPr>
        <p:spPr>
          <a:xfrm>
            <a:off x="1028700" y="2400300"/>
            <a:ext cx="48577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= meilleur compromis performance/complexité</a:t>
            </a:r>
            <a:endParaRPr lang="en-US" sz="1400" dirty="0"/>
          </a:p>
        </p:txBody>
      </p:sp>
      <p:pic>
        <p:nvPicPr>
          <p:cNvPr id="2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" y="2962275"/>
            <a:ext cx="152400" cy="171450"/>
          </a:xfrm>
          <a:prstGeom prst="rect">
            <a:avLst/>
          </a:prstGeom>
        </p:spPr>
      </p:pic>
      <p:sp>
        <p:nvSpPr>
          <p:cNvPr id="24" name="Text 4"/>
          <p:cNvSpPr/>
          <p:nvPr/>
        </p:nvSpPr>
        <p:spPr>
          <a:xfrm>
            <a:off x="1028700" y="2857500"/>
            <a:ext cx="39147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= indispensable pour l'adoption terrain</a:t>
            </a:r>
            <a:endParaRPr lang="en-US" sz="1400" dirty="0"/>
          </a:p>
        </p:txBody>
      </p:sp>
      <p:pic>
        <p:nvPicPr>
          <p:cNvPr id="2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" y="3419475"/>
            <a:ext cx="152400" cy="171450"/>
          </a:xfrm>
          <a:prstGeom prst="rect">
            <a:avLst/>
          </a:prstGeom>
        </p:spPr>
      </p:pic>
      <p:sp>
        <p:nvSpPr>
          <p:cNvPr id="26" name="Text 5"/>
          <p:cNvSpPr/>
          <p:nvPr/>
        </p:nvSpPr>
        <p:spPr>
          <a:xfrm>
            <a:off x="1028700" y="3314700"/>
            <a:ext cx="48387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TimeSeriesSplit = obligatoire pour éviter le data leakage</a:t>
            </a:r>
            <a:endParaRPr lang="en-US" sz="1400" dirty="0"/>
          </a:p>
        </p:txBody>
      </p:sp>
      <p:pic>
        <p:nvPicPr>
          <p:cNvPr id="2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" y="3876675"/>
            <a:ext cx="152400" cy="171450"/>
          </a:xfrm>
          <a:prstGeom prst="rect">
            <a:avLst/>
          </a:prstGeom>
        </p:spPr>
      </p:pic>
      <p:sp>
        <p:nvSpPr>
          <p:cNvPr id="28" name="Text 6"/>
          <p:cNvSpPr/>
          <p:nvPr/>
        </p:nvSpPr>
        <p:spPr>
          <a:xfrm>
            <a:off x="1028700" y="3771900"/>
            <a:ext cx="32670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= mise en production rapide</a:t>
            </a:r>
            <a:endParaRPr lang="en-US" sz="1400" dirty="0"/>
          </a:p>
        </p:txBody>
      </p:sp>
      <p:sp>
        <p:nvSpPr>
          <p:cNvPr id="29" name="Text 7"/>
          <p:cNvSpPr/>
          <p:nvPr/>
        </p:nvSpPr>
        <p:spPr>
          <a:xfrm>
            <a:off x="6581775" y="1514475"/>
            <a:ext cx="2152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Prochaines Étapes</a:t>
            </a:r>
            <a:endParaRPr lang="en-US" sz="1700" dirty="0"/>
          </a:p>
        </p:txBody>
      </p:sp>
      <p:pic>
        <p:nvPicPr>
          <p:cNvPr id="3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29350" y="1533525"/>
            <a:ext cx="247650" cy="247650"/>
          </a:xfrm>
          <a:prstGeom prst="rect">
            <a:avLst/>
          </a:prstGeom>
        </p:spPr>
      </p:pic>
      <p:pic>
        <p:nvPicPr>
          <p:cNvPr id="3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15075" y="2047875"/>
            <a:ext cx="152400" cy="171450"/>
          </a:xfrm>
          <a:prstGeom prst="rect">
            <a:avLst/>
          </a:prstGeom>
        </p:spPr>
      </p:pic>
      <p:sp>
        <p:nvSpPr>
          <p:cNvPr id="32" name="Text 8"/>
          <p:cNvSpPr/>
          <p:nvPr/>
        </p:nvSpPr>
        <p:spPr>
          <a:xfrm>
            <a:off x="6696075" y="1943100"/>
            <a:ext cx="49244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Collecter des données réelles en environnement industriel</a:t>
            </a:r>
            <a:endParaRPr lang="en-US" sz="1400" dirty="0"/>
          </a:p>
        </p:txBody>
      </p:sp>
      <p:pic>
        <p:nvPicPr>
          <p:cNvPr id="33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15075" y="2638425"/>
            <a:ext cx="152400" cy="171450"/>
          </a:xfrm>
          <a:prstGeom prst="rect">
            <a:avLst/>
          </a:prstGeom>
        </p:spPr>
      </p:pic>
      <p:sp>
        <p:nvSpPr>
          <p:cNvPr id="34" name="Text 9"/>
          <p:cNvSpPr/>
          <p:nvPr/>
        </p:nvSpPr>
        <p:spPr>
          <a:xfrm>
            <a:off x="6696075" y="2533650"/>
            <a:ext cx="33909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Affiner le modèle avec feedback terrain</a:t>
            </a:r>
            <a:endParaRPr lang="en-US" sz="1400" dirty="0"/>
          </a:p>
        </p:txBody>
      </p:sp>
      <p:pic>
        <p:nvPicPr>
          <p:cNvPr id="3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15075" y="3095625"/>
            <a:ext cx="152400" cy="171450"/>
          </a:xfrm>
          <a:prstGeom prst="rect">
            <a:avLst/>
          </a:prstGeom>
        </p:spPr>
      </p:pic>
      <p:sp>
        <p:nvSpPr>
          <p:cNvPr id="36" name="Text 10"/>
          <p:cNvSpPr/>
          <p:nvPr/>
        </p:nvSpPr>
        <p:spPr>
          <a:xfrm>
            <a:off x="6696075" y="2990850"/>
            <a:ext cx="47625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Mettre en place un pipeline de réentraînement continu</a:t>
            </a:r>
            <a:endParaRPr lang="en-US" sz="1400" dirty="0"/>
          </a:p>
        </p:txBody>
      </p:sp>
      <p:pic>
        <p:nvPicPr>
          <p:cNvPr id="3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15075" y="3552825"/>
            <a:ext cx="152400" cy="171450"/>
          </a:xfrm>
          <a:prstGeom prst="rect">
            <a:avLst/>
          </a:prstGeom>
        </p:spPr>
      </p:pic>
      <p:sp>
        <p:nvSpPr>
          <p:cNvPr id="38" name="Text 11"/>
          <p:cNvSpPr/>
          <p:nvPr/>
        </p:nvSpPr>
        <p:spPr>
          <a:xfrm>
            <a:off x="6696075" y="3448050"/>
            <a:ext cx="3467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Étendre à d'autres types d'équipements</a:t>
            </a:r>
            <a:endParaRPr lang="en-US" sz="1400" dirty="0"/>
          </a:p>
        </p:txBody>
      </p:sp>
      <p:sp>
        <p:nvSpPr>
          <p:cNvPr id="39" name="Text 12"/>
          <p:cNvSpPr/>
          <p:nvPr/>
        </p:nvSpPr>
        <p:spPr>
          <a:xfrm>
            <a:off x="2495550" y="6362700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A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maintenance-ml@industrie40.com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6438900" y="6362700"/>
            <a:ext cx="3257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A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Website: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www.predictive-maintenance.io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dokie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dokie</dc:creator>
  <cp:lastModifiedBy>dokie</cp:lastModifiedBy>
  <cp:revision>1</cp:revision>
  <dcterms:created xsi:type="dcterms:W3CDTF">2026-05-12T15:08:54Z</dcterms:created>
  <dcterms:modified xsi:type="dcterms:W3CDTF">2026-05-12T15:08:54Z</dcterms:modified>
</cp:coreProperties>
</file>